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2.fntdata" ContentType="application/x-fontdata"/>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4"/>
  </p:notesMasterIdLst>
  <p:sldIdLst>
    <p:sldId id="256" r:id="rId3"/>
    <p:sldId id="272" r:id="rId5"/>
    <p:sldId id="261" r:id="rId6"/>
    <p:sldId id="291" r:id="rId7"/>
    <p:sldId id="296" r:id="rId8"/>
    <p:sldId id="264" r:id="rId9"/>
    <p:sldId id="277" r:id="rId10"/>
    <p:sldId id="289" r:id="rId11"/>
    <p:sldId id="290" r:id="rId12"/>
    <p:sldId id="278" r:id="rId13"/>
    <p:sldId id="279" r:id="rId14"/>
    <p:sldId id="281" r:id="rId15"/>
    <p:sldId id="282" r:id="rId16"/>
    <p:sldId id="284" r:id="rId17"/>
    <p:sldId id="285" r:id="rId18"/>
    <p:sldId id="286" r:id="rId19"/>
    <p:sldId id="287" r:id="rId20"/>
    <p:sldId id="288" r:id="rId21"/>
    <p:sldId id="293" r:id="rId22"/>
    <p:sldId id="294" r:id="rId23"/>
    <p:sldId id="295" r:id="rId24"/>
    <p:sldId id="271" r:id="rId25"/>
    <p:sldId id="259" r:id="rId26"/>
  </p:sldIdLst>
  <p:sldSz cx="12192000" cy="6858000"/>
  <p:notesSz cx="6858000" cy="9144000"/>
  <p:embeddedFontLst>
    <p:embeddedFont>
      <p:font typeface="Calibri" panose="020F0502020204030204"/>
      <p:regular r:id="rId30"/>
    </p:embeddedFont>
    <p:embeddedFont>
      <p:font typeface="Libre Baskerville" panose="02000000000000000000"/>
      <p:regular r:id="rId3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4EEF8"/>
    <a:srgbClr val="F1F8F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中度样式 2 - 强调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2" d="100"/>
          <a:sy n="82" d="100"/>
        </p:scale>
        <p:origin x="691"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1" Type="http://schemas.openxmlformats.org/officeDocument/2006/relationships/font" Target="fonts/font2.fntdata"/><Relationship Id="rId30" Type="http://schemas.openxmlformats.org/officeDocument/2006/relationships/font" Target="fonts/font1.fntdata"/><Relationship Id="rId3" Type="http://schemas.openxmlformats.org/officeDocument/2006/relationships/slide" Target="slides/slide1.xml"/><Relationship Id="rId29" Type="http://schemas.openxmlformats.org/officeDocument/2006/relationships/tableStyles" Target="tableStyles.xml"/><Relationship Id="rId28" Type="http://schemas.openxmlformats.org/officeDocument/2006/relationships/viewProps" Target="viewProps.xml"/><Relationship Id="rId27" Type="http://schemas.openxmlformats.org/officeDocument/2006/relationships/presProps" Target="presProps.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L="914400" marR="0" lvl="1"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L="1371600" marR="0" lvl="2"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L="1828800" marR="0" lvl="3"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L="2286000" marR="0" lvl="4"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L="2743200" marR="0" lvl="5"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panose="020B0604020202020204"/>
              <a:buNone/>
            </a:pPr>
            <a:fld id="{00000000-1234-1234-1234-123412341234}" type="slidenum">
              <a:rPr lang="en-IN" sz="1200" b="0" i="0" u="none" strike="noStrike" cap="none">
                <a:solidFill>
                  <a:schemeClr val="dk1"/>
                </a:solidFill>
                <a:latin typeface="Calibri" panose="020F0502020204030204"/>
                <a:ea typeface="Calibri" panose="020F0502020204030204"/>
                <a:cs typeface="Calibri" panose="020F0502020204030204"/>
                <a:sym typeface="Calibri" panose="020F0502020204030204"/>
              </a:rPr>
            </a:fld>
            <a:endParaRPr sz="12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notesSlide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94"/>
        <p:cNvGrpSpPr/>
        <p:nvPr/>
      </p:nvGrpSpPr>
      <p:grpSpPr>
        <a:xfrm>
          <a:off x="0" y="0"/>
          <a:ext cx="0" cy="0"/>
          <a:chOff x="0" y="0"/>
          <a:chExt cx="0" cy="0"/>
        </a:xfrm>
      </p:grpSpPr>
      <p:sp>
        <p:nvSpPr>
          <p:cNvPr id="95" name="Google Shape;95;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400"/>
              <a:buFont typeface="Calibri" panose="020F0502020204030204"/>
              <a:buNone/>
            </a:pPr>
          </a:p>
        </p:txBody>
      </p:sp>
      <p:sp>
        <p:nvSpPr>
          <p:cNvPr id="96" name="Google Shape;96;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06"/>
        <p:cNvGrpSpPr/>
        <p:nvPr/>
      </p:nvGrpSpPr>
      <p:grpSpPr>
        <a:xfrm>
          <a:off x="0" y="0"/>
          <a:ext cx="0" cy="0"/>
          <a:chOff x="0" y="0"/>
          <a:chExt cx="0" cy="0"/>
        </a:xfrm>
      </p:grpSpPr>
      <p:sp>
        <p:nvSpPr>
          <p:cNvPr id="107" name="Google Shape;107;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108" name="Google Shape;108;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12"/>
        <p:cNvGrpSpPr/>
        <p:nvPr/>
      </p:nvGrpSpPr>
      <p:grpSpPr>
        <a:xfrm>
          <a:off x="0" y="0"/>
          <a:ext cx="0" cy="0"/>
          <a:chOff x="0" y="0"/>
          <a:chExt cx="0" cy="0"/>
        </a:xfrm>
      </p:grpSpPr>
      <p:sp>
        <p:nvSpPr>
          <p:cNvPr id="113" name="Google Shape;113;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200"/>
              <a:buFont typeface="Calibri" panose="020F0502020204030204"/>
              <a:buNone/>
            </a:pPr>
          </a:p>
        </p:txBody>
      </p:sp>
      <p:sp>
        <p:nvSpPr>
          <p:cNvPr id="114" name="Google Shape;114;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Only" matchingName="Title Only">
  <p:cSld name="TITLE_ONLY">
    <p:spTree>
      <p:nvGrpSpPr>
        <p:cNvPr id="1" name="Shape 15"/>
        <p:cNvGrpSpPr/>
        <p:nvPr/>
      </p:nvGrpSpPr>
      <p:grpSpPr>
        <a:xfrm>
          <a:off x="0" y="0"/>
          <a:ext cx="0" cy="0"/>
          <a:chOff x="0" y="0"/>
          <a:chExt cx="0" cy="0"/>
        </a:xfrm>
      </p:grpSpPr>
      <p:sp>
        <p:nvSpPr>
          <p:cNvPr id="16" name="Google Shape;16;p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8" name="Google Shape;18;p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IN"/>
            </a:fld>
            <a:endParaRPr lang="en-IN"/>
          </a:p>
        </p:txBody>
      </p:sp>
      <p:pic>
        <p:nvPicPr>
          <p:cNvPr id="20" name="Google Shape;20;p7"/>
          <p:cNvPicPr preferRelativeResize="0"/>
          <p:nvPr/>
        </p:nvPicPr>
        <p:blipFill rotWithShape="1">
          <a:blip r:embed="rId2"/>
          <a:srcRect/>
          <a:stretch>
            <a:fillRect/>
          </a:stretch>
        </p:blipFill>
        <p:spPr>
          <a:xfrm>
            <a:off x="8814232" y="6184984"/>
            <a:ext cx="3225397" cy="673016"/>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matchingName="Blank">
  <p:cSld name="BLANK">
    <p:spTree>
      <p:nvGrpSpPr>
        <p:cNvPr id="1" name="Shape 21"/>
        <p:cNvGrpSpPr/>
        <p:nvPr/>
      </p:nvGrpSpPr>
      <p:grpSpPr>
        <a:xfrm>
          <a:off x="0" y="0"/>
          <a:ext cx="0" cy="0"/>
          <a:chOff x="0" y="0"/>
          <a:chExt cx="0" cy="0"/>
        </a:xfrm>
      </p:grpSpPr>
      <p:sp>
        <p:nvSpPr>
          <p:cNvPr id="22" name="Google Shape;22;p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 name="Google Shape;24;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IN"/>
            </a:fld>
            <a:endParaRPr lang="en-IN"/>
          </a:p>
        </p:txBody>
      </p:sp>
      <p:pic>
        <p:nvPicPr>
          <p:cNvPr id="25" name="Google Shape;25;p9"/>
          <p:cNvPicPr preferRelativeResize="0"/>
          <p:nvPr/>
        </p:nvPicPr>
        <p:blipFill rotWithShape="1">
          <a:blip r:embed="rId2"/>
          <a:srcRect/>
          <a:stretch>
            <a:fillRect/>
          </a:stretch>
        </p:blipFill>
        <p:spPr>
          <a:xfrm>
            <a:off x="8814232" y="6184984"/>
            <a:ext cx="3225397" cy="673016"/>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matchingName="Title and Content">
  <p:cSld name="OBJECT">
    <p:spTree>
      <p:nvGrpSpPr>
        <p:cNvPr id="1" name="Shape 26"/>
        <p:cNvGrpSpPr/>
        <p:nvPr/>
      </p:nvGrpSpPr>
      <p:grpSpPr>
        <a:xfrm>
          <a:off x="0" y="0"/>
          <a:ext cx="0" cy="0"/>
          <a:chOff x="0" y="0"/>
          <a:chExt cx="0" cy="0"/>
        </a:xfrm>
      </p:grpSpPr>
      <p:sp>
        <p:nvSpPr>
          <p:cNvPr id="27" name="Google Shape;27;p1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8" name="Google Shape;28;p10"/>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29" name="Google Shape;29;p1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0" name="Google Shape;30;p1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1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IN"/>
            </a:fld>
            <a:endParaRPr lang="en-IN"/>
          </a:p>
        </p:txBody>
      </p:sp>
      <p:pic>
        <p:nvPicPr>
          <p:cNvPr id="32" name="Google Shape;32;p10"/>
          <p:cNvPicPr preferRelativeResize="0"/>
          <p:nvPr/>
        </p:nvPicPr>
        <p:blipFill rotWithShape="1">
          <a:blip r:embed="rId2"/>
          <a:srcRect/>
          <a:stretch>
            <a:fillRect/>
          </a:stretch>
        </p:blipFill>
        <p:spPr>
          <a:xfrm>
            <a:off x="8814232" y="6184984"/>
            <a:ext cx="3225397" cy="673016"/>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 matchingName="Title Slide">
  <p:cSld name="TITLE">
    <p:spTree>
      <p:nvGrpSpPr>
        <p:cNvPr id="1" name="Shape 33"/>
        <p:cNvGrpSpPr/>
        <p:nvPr/>
      </p:nvGrpSpPr>
      <p:grpSpPr>
        <a:xfrm>
          <a:off x="0" y="0"/>
          <a:ext cx="0" cy="0"/>
          <a:chOff x="0" y="0"/>
          <a:chExt cx="0" cy="0"/>
        </a:xfrm>
      </p:grpSpPr>
      <p:sp>
        <p:nvSpPr>
          <p:cNvPr id="34" name="Google Shape;34;p8"/>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panose="020F0502020204030204"/>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8"/>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36" name="Google Shape;36;p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7" name="Google Shape;37;p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IN"/>
            </a:fld>
            <a:endParaRPr lang="en-IN"/>
          </a:p>
        </p:txBody>
      </p:sp>
      <p:pic>
        <p:nvPicPr>
          <p:cNvPr id="39" name="Google Shape;39;p8"/>
          <p:cNvPicPr preferRelativeResize="0"/>
          <p:nvPr/>
        </p:nvPicPr>
        <p:blipFill rotWithShape="1">
          <a:blip r:embed="rId2"/>
          <a:srcRect/>
          <a:stretch>
            <a:fillRect/>
          </a:stretch>
        </p:blipFill>
        <p:spPr>
          <a:xfrm>
            <a:off x="8814232" y="6184984"/>
            <a:ext cx="3225397" cy="673016"/>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matchingName="Section Header">
  <p:cSld name="SECTION_HEADER">
    <p:spTree>
      <p:nvGrpSpPr>
        <p:cNvPr id="1" name="Shape 40"/>
        <p:cNvGrpSpPr/>
        <p:nvPr/>
      </p:nvGrpSpPr>
      <p:grpSpPr>
        <a:xfrm>
          <a:off x="0" y="0"/>
          <a:ext cx="0" cy="0"/>
          <a:chOff x="0" y="0"/>
          <a:chExt cx="0" cy="0"/>
        </a:xfrm>
      </p:grpSpPr>
      <p:sp>
        <p:nvSpPr>
          <p:cNvPr id="41" name="Google Shape;41;p11"/>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panose="020F0502020204030204"/>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11"/>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p:txBody>
      </p:sp>
      <p:sp>
        <p:nvSpPr>
          <p:cNvPr id="43" name="Google Shape;43;p1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4" name="Google Shape;44;p1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5" name="Google Shape;45;p1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IN"/>
            </a:fld>
            <a:endParaRPr lang="en-IN"/>
          </a:p>
        </p:txBody>
      </p:sp>
      <p:pic>
        <p:nvPicPr>
          <p:cNvPr id="46" name="Google Shape;46;p11"/>
          <p:cNvPicPr preferRelativeResize="0"/>
          <p:nvPr/>
        </p:nvPicPr>
        <p:blipFill rotWithShape="1">
          <a:blip r:embed="rId2"/>
          <a:srcRect/>
          <a:stretch>
            <a:fillRect/>
          </a:stretch>
        </p:blipFill>
        <p:spPr>
          <a:xfrm>
            <a:off x="8814232" y="6184984"/>
            <a:ext cx="3225397" cy="673016"/>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matchingName="Two Content">
  <p:cSld name="TWO_OBJECTS">
    <p:spTree>
      <p:nvGrpSpPr>
        <p:cNvPr id="1" name="Shape 47"/>
        <p:cNvGrpSpPr/>
        <p:nvPr/>
      </p:nvGrpSpPr>
      <p:grpSpPr>
        <a:xfrm>
          <a:off x="0" y="0"/>
          <a:ext cx="0" cy="0"/>
          <a:chOff x="0" y="0"/>
          <a:chExt cx="0" cy="0"/>
        </a:xfrm>
      </p:grpSpPr>
      <p:sp>
        <p:nvSpPr>
          <p:cNvPr id="48" name="Google Shape;48;p1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9" name="Google Shape;49;p12"/>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50" name="Google Shape;50;p12"/>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51" name="Google Shape;51;p1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1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IN"/>
            </a:fld>
            <a:endParaRPr lang="en-IN"/>
          </a:p>
        </p:txBody>
      </p:sp>
      <p:pic>
        <p:nvPicPr>
          <p:cNvPr id="54" name="Google Shape;54;p12"/>
          <p:cNvPicPr preferRelativeResize="0"/>
          <p:nvPr/>
        </p:nvPicPr>
        <p:blipFill rotWithShape="1">
          <a:blip r:embed="rId2"/>
          <a:srcRect/>
          <a:stretch>
            <a:fillRect/>
          </a:stretch>
        </p:blipFill>
        <p:spPr>
          <a:xfrm>
            <a:off x="8814232" y="6184984"/>
            <a:ext cx="3225397" cy="673016"/>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matchingName="Comparison">
  <p:cSld name="TWO_OBJECTS_WITH_TEXT">
    <p:spTree>
      <p:nvGrpSpPr>
        <p:cNvPr id="1" name="Shape 55"/>
        <p:cNvGrpSpPr/>
        <p:nvPr/>
      </p:nvGrpSpPr>
      <p:grpSpPr>
        <a:xfrm>
          <a:off x="0" y="0"/>
          <a:ext cx="0" cy="0"/>
          <a:chOff x="0" y="0"/>
          <a:chExt cx="0" cy="0"/>
        </a:xfrm>
      </p:grpSpPr>
      <p:sp>
        <p:nvSpPr>
          <p:cNvPr id="56" name="Google Shape;56;p13"/>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13"/>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p:txBody>
      </p:sp>
      <p:sp>
        <p:nvSpPr>
          <p:cNvPr id="58" name="Google Shape;58;p13"/>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59" name="Google Shape;59;p13"/>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p:txBody>
      </p:sp>
      <p:sp>
        <p:nvSpPr>
          <p:cNvPr id="60" name="Google Shape;60;p13"/>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61" name="Google Shape;61;p1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2" name="Google Shape;62;p1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1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IN"/>
            </a:fld>
            <a:endParaRPr lang="en-IN"/>
          </a:p>
        </p:txBody>
      </p:sp>
      <p:pic>
        <p:nvPicPr>
          <p:cNvPr id="64" name="Google Shape;64;p13"/>
          <p:cNvPicPr preferRelativeResize="0"/>
          <p:nvPr/>
        </p:nvPicPr>
        <p:blipFill rotWithShape="1">
          <a:blip r:embed="rId2"/>
          <a:srcRect/>
          <a:stretch>
            <a:fillRect/>
          </a:stretch>
        </p:blipFill>
        <p:spPr>
          <a:xfrm>
            <a:off x="8814232" y="6184984"/>
            <a:ext cx="3225397" cy="673016"/>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matchingName="Content with Caption">
  <p:cSld name="OBJECT_WITH_CAPTION_TEXT">
    <p:spTree>
      <p:nvGrpSpPr>
        <p:cNvPr id="1" name="Shape 65"/>
        <p:cNvGrpSpPr/>
        <p:nvPr/>
      </p:nvGrpSpPr>
      <p:grpSpPr>
        <a:xfrm>
          <a:off x="0" y="0"/>
          <a:ext cx="0" cy="0"/>
          <a:chOff x="0" y="0"/>
          <a:chExt cx="0" cy="0"/>
        </a:xfrm>
      </p:grpSpPr>
      <p:sp>
        <p:nvSpPr>
          <p:cNvPr id="66" name="Google Shape;66;p14"/>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panose="020F0502020204030204"/>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14"/>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p:txBody>
      </p:sp>
      <p:sp>
        <p:nvSpPr>
          <p:cNvPr id="68" name="Google Shape;68;p14"/>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p:txBody>
      </p:sp>
      <p:sp>
        <p:nvSpPr>
          <p:cNvPr id="69" name="Google Shape;69;p1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1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1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IN"/>
            </a:fld>
            <a:endParaRPr lang="en-IN"/>
          </a:p>
        </p:txBody>
      </p:sp>
      <p:pic>
        <p:nvPicPr>
          <p:cNvPr id="72" name="Google Shape;72;p14"/>
          <p:cNvPicPr preferRelativeResize="0"/>
          <p:nvPr/>
        </p:nvPicPr>
        <p:blipFill rotWithShape="1">
          <a:blip r:embed="rId2"/>
          <a:srcRect/>
          <a:stretch>
            <a:fillRect/>
          </a:stretch>
        </p:blipFill>
        <p:spPr>
          <a:xfrm>
            <a:off x="8814232" y="6184984"/>
            <a:ext cx="3225397" cy="673016"/>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matchingName="Picture with Caption">
  <p:cSld name="PICTURE_WITH_CAPTION_TEXT">
    <p:spTree>
      <p:nvGrpSpPr>
        <p:cNvPr id="1" name="Shape 73"/>
        <p:cNvGrpSpPr/>
        <p:nvPr/>
      </p:nvGrpSpPr>
      <p:grpSpPr>
        <a:xfrm>
          <a:off x="0" y="0"/>
          <a:ext cx="0" cy="0"/>
          <a:chOff x="0" y="0"/>
          <a:chExt cx="0" cy="0"/>
        </a:xfrm>
      </p:grpSpPr>
      <p:sp>
        <p:nvSpPr>
          <p:cNvPr id="74" name="Google Shape;74;p15"/>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panose="020F0502020204030204"/>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5" name="Google Shape;75;p15"/>
          <p:cNvSpPr>
            <a:spLocks noGrp="1"/>
          </p:cNvSpPr>
          <p:nvPr>
            <p:ph type="pic" idx="2"/>
          </p:nvPr>
        </p:nvSpPr>
        <p:spPr>
          <a:xfrm>
            <a:off x="5183188" y="987425"/>
            <a:ext cx="6172200" cy="4873625"/>
          </a:xfrm>
          <a:prstGeom prst="rect">
            <a:avLst/>
          </a:prstGeom>
          <a:noFill/>
          <a:ln>
            <a:noFill/>
          </a:ln>
        </p:spPr>
      </p:sp>
      <p:sp>
        <p:nvSpPr>
          <p:cNvPr id="76" name="Google Shape;76;p15"/>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p:txBody>
      </p:sp>
      <p:sp>
        <p:nvSpPr>
          <p:cNvPr id="77" name="Google Shape;77;p1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8" name="Google Shape;78;p1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9" name="Google Shape;79;p1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IN"/>
            </a:fld>
            <a:endParaRPr lang="en-IN"/>
          </a:p>
        </p:txBody>
      </p:sp>
      <p:pic>
        <p:nvPicPr>
          <p:cNvPr id="80" name="Google Shape;80;p15"/>
          <p:cNvPicPr preferRelativeResize="0"/>
          <p:nvPr/>
        </p:nvPicPr>
        <p:blipFill rotWithShape="1">
          <a:blip r:embed="rId2"/>
          <a:srcRect/>
          <a:stretch>
            <a:fillRect/>
          </a:stretch>
        </p:blipFill>
        <p:spPr>
          <a:xfrm>
            <a:off x="8814232" y="6184984"/>
            <a:ext cx="3225397" cy="673016"/>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matchingName="Title and Vertical Text">
  <p:cSld name="VERTICAL_TEXT">
    <p:spTree>
      <p:nvGrpSpPr>
        <p:cNvPr id="1" name="Shape 81"/>
        <p:cNvGrpSpPr/>
        <p:nvPr/>
      </p:nvGrpSpPr>
      <p:grpSpPr>
        <a:xfrm>
          <a:off x="0" y="0"/>
          <a:ext cx="0" cy="0"/>
          <a:chOff x="0" y="0"/>
          <a:chExt cx="0" cy="0"/>
        </a:xfrm>
      </p:grpSpPr>
      <p:sp>
        <p:nvSpPr>
          <p:cNvPr id="82" name="Google Shape;82;p1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16"/>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84" name="Google Shape;84;p1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5" name="Google Shape;85;p1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6" name="Google Shape;86;p1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IN"/>
            </a:fld>
            <a:endParaRPr lang="en-IN"/>
          </a:p>
        </p:txBody>
      </p:sp>
      <p:pic>
        <p:nvPicPr>
          <p:cNvPr id="87" name="Google Shape;87;p16"/>
          <p:cNvPicPr preferRelativeResize="0"/>
          <p:nvPr/>
        </p:nvPicPr>
        <p:blipFill rotWithShape="1">
          <a:blip r:embed="rId2"/>
          <a:srcRect/>
          <a:stretch>
            <a:fillRect/>
          </a:stretch>
        </p:blipFill>
        <p:spPr>
          <a:xfrm>
            <a:off x="8814232" y="6184984"/>
            <a:ext cx="3225397" cy="673016"/>
          </a:xfrm>
          <a:prstGeom prst="rect">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matchingName="Vertical Title and Text">
  <p:cSld name="VERTICAL_TITLE_AND_VERTICAL_TEXT">
    <p:spTree>
      <p:nvGrpSpPr>
        <p:cNvPr id="1" name="Shape 88"/>
        <p:cNvGrpSpPr/>
        <p:nvPr/>
      </p:nvGrpSpPr>
      <p:grpSpPr>
        <a:xfrm>
          <a:off x="0" y="0"/>
          <a:ext cx="0" cy="0"/>
          <a:chOff x="0" y="0"/>
          <a:chExt cx="0" cy="0"/>
        </a:xfrm>
      </p:grpSpPr>
      <p:sp>
        <p:nvSpPr>
          <p:cNvPr id="89" name="Google Shape;89;p17"/>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0" name="Google Shape;90;p17"/>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91" name="Google Shape;91;p1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2" name="Google Shape;92;p1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3" name="Google Shape;93;p1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IN"/>
            </a:fld>
            <a:endParaRPr lang="en-I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 preserve="1">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Text Placeholder 2"/>
          <p:cNvSpPr>
            <a:spLocks noGrp="1"/>
          </p:cNvSpPr>
          <p:nvPr>
            <p:ph type="body"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p:txBody>
      </p:sp>
      <p:sp>
        <p:nvSpPr>
          <p:cNvPr id="5" name="Footer Placeholder 4"/>
          <p:cNvSpPr>
            <a:spLocks noGrp="1"/>
          </p:cNvSpPr>
          <p:nvPr>
            <p:ph type="ftr" sz="quarter" idx="11"/>
          </p:nvPr>
        </p:nvSpPr>
        <p:spPr/>
        <p:txBody>
          <a:bodyPr/>
          <a:lstStyle/>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panose="020F0502020204030204"/>
              <a:buNone/>
              <a:defRPr sz="4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p:txBody>
      </p:sp>
      <p:sp>
        <p:nvSpPr>
          <p:cNvPr id="11" name="Google Shape;11;p6"/>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panose="020B0604020202020204"/>
              <a:buChar char="•"/>
              <a:defRPr sz="2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L="914400" marR="0" lvl="1" indent="-381000" algn="l" rtl="0">
              <a:lnSpc>
                <a:spcPct val="90000"/>
              </a:lnSpc>
              <a:spcBef>
                <a:spcPts val="500"/>
              </a:spcBef>
              <a:spcAft>
                <a:spcPts val="0"/>
              </a:spcAft>
              <a:buClr>
                <a:schemeClr val="dk1"/>
              </a:buClr>
              <a:buSzPts val="2400"/>
              <a:buFont typeface="Arial" panose="020B0604020202020204"/>
              <a:buChar char="•"/>
              <a:defRPr sz="2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L="1371600" marR="0" lvl="2" indent="-355600" algn="l" rtl="0">
              <a:lnSpc>
                <a:spcPct val="90000"/>
              </a:lnSpc>
              <a:spcBef>
                <a:spcPts val="5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L="1828800" marR="0" lvl="3"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L="2286000" marR="0" lvl="4"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L="2743200" marR="0" lvl="5"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12" name="Google Shape;12;p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13" name="Google Shape;13;p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14" name="Google Shape;14;p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IN"/>
            </a:fld>
            <a:endParaRPr lang="en-IN"/>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hyperlink" Target="https://github.com/Reshma-2517" TargetMode="External"/><Relationship Id="rId1" Type="http://schemas.openxmlformats.org/officeDocument/2006/relationships/hyperlink" Target="http://www.linkedin.com/in/reshma-sappa17" TargetMode="Externa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xml"/></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png"/></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png"/></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png"/></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9.png"/></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0.png"/></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1.png"/></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image" Target="../media/image1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pic>
        <p:nvPicPr>
          <p:cNvPr id="98" name="Google Shape;98;p1"/>
          <p:cNvPicPr preferRelativeResize="0"/>
          <p:nvPr/>
        </p:nvPicPr>
        <p:blipFill rotWithShape="1">
          <a:blip r:embed="rId1"/>
          <a:srcRect/>
          <a:stretch>
            <a:fillRect/>
          </a:stretch>
        </p:blipFill>
        <p:spPr>
          <a:xfrm>
            <a:off x="0" y="-695027"/>
            <a:ext cx="12190815" cy="6694098"/>
          </a:xfrm>
          <a:prstGeom prst="rect">
            <a:avLst/>
          </a:prstGeom>
          <a:noFill/>
          <a:ln>
            <a:noFill/>
          </a:ln>
        </p:spPr>
      </p:pic>
      <p:sp>
        <p:nvSpPr>
          <p:cNvPr id="99" name="Google Shape;99;p1"/>
          <p:cNvSpPr txBox="1"/>
          <p:nvPr/>
        </p:nvSpPr>
        <p:spPr>
          <a:xfrm>
            <a:off x="2088055" y="3030191"/>
            <a:ext cx="8014704" cy="79756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panose="020B0604020202020204"/>
              <a:buNone/>
            </a:pPr>
            <a:br>
              <a:rPr lang="en-IN" sz="1800" b="0" i="0" u="none" strike="noStrike" cap="none" dirty="0">
                <a:solidFill>
                  <a:srgbClr val="C00000"/>
                </a:solidFill>
                <a:latin typeface="Calibri" panose="020F0502020204030204"/>
                <a:ea typeface="Calibri" panose="020F0502020204030204"/>
                <a:cs typeface="Calibri" panose="020F0502020204030204"/>
                <a:sym typeface="Calibri" panose="020F0502020204030204"/>
              </a:rPr>
            </a:br>
            <a:r>
              <a:rPr lang="en-US" altLang="en-GB" sz="2800" b="1" i="0" u="none" strike="noStrike" cap="none" dirty="0" smtClean="0">
                <a:solidFill>
                  <a:schemeClr val="tx1"/>
                </a:solidFill>
                <a:latin typeface="Calibri" panose="020F0502020204030204"/>
                <a:ea typeface="Calibri" panose="020F0502020204030204"/>
                <a:cs typeface="Calibri" panose="020F0502020204030204"/>
                <a:sym typeface="Calibri" panose="020F0502020204030204"/>
              </a:rPr>
              <a:t>Music Store Data Analysis</a:t>
            </a:r>
            <a:r>
              <a:rPr lang="en-IN" sz="2800" b="1" i="0" u="none" strike="noStrike" cap="none" dirty="0" smtClean="0">
                <a:solidFill>
                  <a:schemeClr val="tx1"/>
                </a:solidFill>
                <a:latin typeface="Calibri" panose="020F0502020204030204"/>
                <a:ea typeface="Calibri" panose="020F0502020204030204"/>
                <a:cs typeface="Calibri" panose="020F0502020204030204"/>
                <a:sym typeface="Calibri" panose="020F0502020204030204"/>
              </a:rPr>
              <a:t> USING MySQL</a:t>
            </a:r>
            <a:endParaRPr sz="2800" b="1" i="0" u="none" strike="noStrike" cap="none" dirty="0">
              <a:solidFill>
                <a:schemeClr val="tx1"/>
              </a:solidFill>
              <a:sym typeface="Arial" panose="020B0604020202020204"/>
            </a:endParaRPr>
          </a:p>
        </p:txBody>
      </p:sp>
      <p:sp>
        <p:nvSpPr>
          <p:cNvPr id="2" name="TextBox 1"/>
          <p:cNvSpPr txBox="1"/>
          <p:nvPr/>
        </p:nvSpPr>
        <p:spPr>
          <a:xfrm>
            <a:off x="839755" y="4859464"/>
            <a:ext cx="3601616" cy="1200329"/>
          </a:xfrm>
          <a:prstGeom prst="rect">
            <a:avLst/>
          </a:prstGeom>
          <a:noFill/>
        </p:spPr>
        <p:txBody>
          <a:bodyPr wrap="square" rtlCol="0">
            <a:spAutoFit/>
          </a:bodyPr>
          <a:lstStyle/>
          <a:p>
            <a:r>
              <a:rPr lang="en-IN" sz="2400" dirty="0" smtClean="0"/>
              <a:t>Name : </a:t>
            </a:r>
            <a:r>
              <a:rPr lang="en-IN" sz="2400" dirty="0" err="1" smtClean="0"/>
              <a:t>Reshma</a:t>
            </a:r>
            <a:r>
              <a:rPr lang="en-IN" sz="2400" dirty="0" smtClean="0"/>
              <a:t> Sappa</a:t>
            </a:r>
            <a:endParaRPr lang="en-IN" sz="2400" dirty="0" smtClean="0"/>
          </a:p>
          <a:p>
            <a:r>
              <a:rPr lang="en-IN" sz="2400" dirty="0" smtClean="0"/>
              <a:t>Batch no : </a:t>
            </a:r>
            <a:r>
              <a:rPr lang="en-IN" sz="2400" dirty="0" smtClean="0"/>
              <a:t>543</a:t>
            </a:r>
            <a:endParaRPr lang="en-IN" sz="2400" dirty="0" smtClean="0"/>
          </a:p>
          <a:p>
            <a:r>
              <a:rPr lang="en-IN" sz="2400" dirty="0" smtClean="0"/>
              <a:t>ID : 81010206326</a:t>
            </a:r>
            <a:endParaRPr lang="en-IN" sz="2400"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10;p4"/>
          <p:cNvSpPr txBox="1"/>
          <p:nvPr/>
        </p:nvSpPr>
        <p:spPr>
          <a:xfrm>
            <a:off x="961052" y="18255"/>
            <a:ext cx="9763019" cy="1325563"/>
          </a:xfrm>
          <a:prstGeom prst="rect">
            <a:avLst/>
          </a:prstGeom>
          <a:noFill/>
          <a:ln>
            <a:noFill/>
          </a:ln>
        </p:spPr>
        <p:txBody>
          <a:bodyPr spcFirstLastPara="1" wrap="square" lIns="91425" tIns="45700" rIns="91425" bIns="45700" anchor="ctr"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a:lnSpc>
                <a:spcPct val="90000"/>
              </a:lnSpc>
              <a:buClr>
                <a:srgbClr val="FF0000"/>
              </a:buClr>
              <a:buSzPts val="4400"/>
              <a:buFont typeface="Calibri" panose="020F0502020204030204"/>
              <a:buNone/>
            </a:pPr>
            <a:r>
              <a:rPr lang="en-IN" sz="4000" b="1" dirty="0" smtClean="0">
                <a:solidFill>
                  <a:srgbClr val="FF0000"/>
                </a:solidFill>
              </a:rPr>
              <a:t>About Me:</a:t>
            </a:r>
            <a:endParaRPr lang="en-IN" sz="4000" b="1" dirty="0">
              <a:solidFill>
                <a:srgbClr val="FF0000"/>
              </a:solidFill>
            </a:endParaRPr>
          </a:p>
        </p:txBody>
      </p:sp>
      <p:sp>
        <p:nvSpPr>
          <p:cNvPr id="3" name="Text Placeholder 2"/>
          <p:cNvSpPr txBox="1"/>
          <p:nvPr/>
        </p:nvSpPr>
        <p:spPr>
          <a:xfrm>
            <a:off x="838200" y="1212979"/>
            <a:ext cx="10515600" cy="4833257"/>
          </a:xfrm>
          <a:prstGeom prst="rect">
            <a:avLst/>
          </a:prstGeom>
        </p:spPr>
        <p:txBody>
          <a:bodyPr>
            <a:normAutofit fontScale="40000" lnSpcReduction="20000"/>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571500" indent="-571500" algn="just">
              <a:lnSpc>
                <a:spcPct val="160000"/>
              </a:lnSpc>
              <a:buFont typeface="Arial" panose="020B0604020202020204" pitchFamily="34" charset="0"/>
              <a:buChar char="•"/>
            </a:pPr>
            <a:r>
              <a:rPr lang="en-US" sz="4500" b="1" dirty="0" smtClean="0"/>
              <a:t>Background: </a:t>
            </a:r>
            <a:r>
              <a:rPr lang="en-US" sz="4500" dirty="0" smtClean="0"/>
              <a:t>I </a:t>
            </a:r>
            <a:r>
              <a:rPr lang="en-US" sz="4500" dirty="0"/>
              <a:t>completed my Bachelor's degree in Electronics and Communication Engineering (ECE) from </a:t>
            </a:r>
            <a:r>
              <a:rPr lang="en-US" sz="4500" dirty="0" err="1" smtClean="0"/>
              <a:t>Vignana</a:t>
            </a:r>
            <a:r>
              <a:rPr lang="en-US" sz="4500" dirty="0" smtClean="0"/>
              <a:t> </a:t>
            </a:r>
            <a:r>
              <a:rPr lang="en-US" sz="4500" dirty="0" err="1" smtClean="0"/>
              <a:t>Bharathi</a:t>
            </a:r>
            <a:r>
              <a:rPr lang="en-US" sz="4500" dirty="0" smtClean="0"/>
              <a:t> Institute of Technology </a:t>
            </a:r>
            <a:r>
              <a:rPr lang="en-US" sz="4500" dirty="0"/>
              <a:t>(VBIT</a:t>
            </a:r>
            <a:r>
              <a:rPr lang="en-US" sz="4500" dirty="0" smtClean="0"/>
              <a:t>) in the year 2026.</a:t>
            </a:r>
            <a:endParaRPr lang="en-US" sz="4500" dirty="0" smtClean="0"/>
          </a:p>
          <a:p>
            <a:pPr marL="571500" indent="-571500" algn="just">
              <a:lnSpc>
                <a:spcPct val="160000"/>
              </a:lnSpc>
              <a:buFont typeface="Arial" panose="020B0604020202020204" pitchFamily="34" charset="0"/>
              <a:buChar char="•"/>
            </a:pPr>
            <a:r>
              <a:rPr lang="en-US" sz="4500" b="1" dirty="0" smtClean="0"/>
              <a:t>Why do you want to learn Data Science: </a:t>
            </a:r>
            <a:r>
              <a:rPr lang="en-US" sz="4500" dirty="0" smtClean="0"/>
              <a:t>Every </a:t>
            </a:r>
            <a:r>
              <a:rPr lang="en-US" sz="4500" dirty="0"/>
              <a:t>organization generates data, but the real value lies in asking the right questions and extracting actionable insights. I want to develop the ability to solve business problems systematically using data rather than relying on assumptions. That combination of analytical thinking and business impact is what motivates me to pursue Data </a:t>
            </a:r>
            <a:r>
              <a:rPr lang="en-US" sz="4500" dirty="0" smtClean="0"/>
              <a:t>Science.</a:t>
            </a:r>
            <a:endParaRPr lang="en-US" sz="4500" dirty="0" smtClean="0"/>
          </a:p>
          <a:p>
            <a:pPr marL="571500" indent="-571500" algn="just">
              <a:lnSpc>
                <a:spcPct val="160000"/>
              </a:lnSpc>
              <a:buFont typeface="Arial" panose="020B0604020202020204" pitchFamily="34" charset="0"/>
              <a:buChar char="•"/>
            </a:pPr>
            <a:r>
              <a:rPr lang="en-US" sz="4500" b="1" dirty="0" err="1" smtClean="0"/>
              <a:t>Proile</a:t>
            </a:r>
            <a:r>
              <a:rPr lang="en-US" sz="4500" b="1" dirty="0" smtClean="0"/>
              <a:t> URLs :</a:t>
            </a:r>
            <a:endParaRPr lang="en-US" sz="4500" b="1" dirty="0" smtClean="0"/>
          </a:p>
          <a:p>
            <a:pPr algn="just"/>
            <a:endParaRPr lang="en-US" sz="4500" dirty="0" smtClean="0"/>
          </a:p>
          <a:p>
            <a:pPr lvl="3" algn="just"/>
            <a:r>
              <a:rPr lang="en-US" sz="4500" dirty="0"/>
              <a:t> </a:t>
            </a:r>
            <a:r>
              <a:rPr lang="en-US" sz="4500" dirty="0" smtClean="0"/>
              <a:t>	LinkedIn : </a:t>
            </a:r>
            <a:r>
              <a:rPr lang="en-US" sz="4500" dirty="0" smtClean="0">
                <a:hlinkClick r:id="rId1"/>
              </a:rPr>
              <a:t>http://www.linkedin.com/in/reshma-sappa17</a:t>
            </a:r>
            <a:endParaRPr lang="en-US" sz="4500" dirty="0" smtClean="0"/>
          </a:p>
          <a:p>
            <a:pPr lvl="3" algn="just"/>
            <a:endParaRPr lang="en-US" sz="4500" dirty="0" smtClean="0"/>
          </a:p>
          <a:p>
            <a:pPr lvl="3" algn="just"/>
            <a:r>
              <a:rPr lang="en-US" sz="4500" dirty="0" smtClean="0"/>
              <a:t>	</a:t>
            </a:r>
            <a:r>
              <a:rPr lang="en-US" sz="4500" dirty="0" err="1" smtClean="0"/>
              <a:t>Github</a:t>
            </a:r>
            <a:r>
              <a:rPr lang="en-US" sz="4500" dirty="0" smtClean="0"/>
              <a:t> : </a:t>
            </a:r>
            <a:r>
              <a:rPr lang="en-US" sz="4500" dirty="0" smtClean="0">
                <a:hlinkClick r:id="rId2"/>
              </a:rPr>
              <a:t>https://github.com/Reshma-2517</a:t>
            </a:r>
            <a:endParaRPr lang="en-US" sz="4500" dirty="0" smtClean="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9"/>
        <p:cNvGrpSpPr/>
        <p:nvPr/>
      </p:nvGrpSpPr>
      <p:grpSpPr>
        <a:xfrm>
          <a:off x="0" y="0"/>
          <a:ext cx="0" cy="0"/>
          <a:chOff x="0" y="0"/>
          <a:chExt cx="0" cy="0"/>
        </a:xfrm>
      </p:grpSpPr>
      <p:sp>
        <p:nvSpPr>
          <p:cNvPr id="111" name="Google Shape;111;p4"/>
          <p:cNvSpPr txBox="1">
            <a:spLocks noGrp="1"/>
          </p:cNvSpPr>
          <p:nvPr>
            <p:ph type="body" idx="1"/>
          </p:nvPr>
        </p:nvSpPr>
        <p:spPr>
          <a:xfrm>
            <a:off x="960755" y="1671955"/>
            <a:ext cx="6908165" cy="3822700"/>
          </a:xfrm>
          <a:prstGeom prst="rect">
            <a:avLst/>
          </a:prstGeom>
          <a:noFill/>
          <a:ln>
            <a:noFill/>
          </a:ln>
        </p:spPr>
        <p:txBody>
          <a:bodyPr spcFirstLastPara="1" wrap="square" lIns="91425" tIns="45700" rIns="91425" bIns="45700" anchor="t" anchorCtr="0">
            <a:normAutofit lnSpcReduction="20000"/>
          </a:bodyPr>
          <a:lstStyle/>
          <a:p>
            <a:pPr marL="368300" lvl="0" algn="l" rtl="0">
              <a:lnSpc>
                <a:spcPct val="90000"/>
              </a:lnSpc>
              <a:spcBef>
                <a:spcPts val="1000"/>
              </a:spcBef>
              <a:spcAft>
                <a:spcPts val="0"/>
              </a:spcAft>
              <a:buSzPts val="2400"/>
              <a:buFont typeface="Arial" panose="020B0604020202020204" pitchFamily="34" charset="0"/>
              <a:buChar char="•"/>
            </a:pPr>
            <a:r>
              <a:rPr lang="en-IN" altLang="en-US" sz="2180" dirty="0">
                <a:latin typeface="+mn-lt"/>
                <a:cs typeface="+mn-lt"/>
              </a:rPr>
              <a:t>Business Problem</a:t>
            </a:r>
            <a:endParaRPr lang="en-IN" altLang="en-US" sz="2180" dirty="0">
              <a:latin typeface="+mn-lt"/>
              <a:cs typeface="+mn-lt"/>
            </a:endParaRPr>
          </a:p>
          <a:p>
            <a:pPr marL="368300" lvl="0" algn="l" rtl="0">
              <a:lnSpc>
                <a:spcPct val="90000"/>
              </a:lnSpc>
              <a:spcBef>
                <a:spcPts val="1000"/>
              </a:spcBef>
              <a:spcAft>
                <a:spcPts val="0"/>
              </a:spcAft>
              <a:buSzPts val="2400"/>
              <a:buFont typeface="Arial" panose="020B0604020202020204" pitchFamily="34" charset="0"/>
              <a:buChar char="•"/>
            </a:pPr>
            <a:r>
              <a:rPr lang="en-IN" altLang="en-US" sz="2180" dirty="0">
                <a:latin typeface="+mn-lt"/>
                <a:cs typeface="+mn-lt"/>
              </a:rPr>
              <a:t>Business Statement</a:t>
            </a:r>
            <a:endParaRPr lang="en-IN" altLang="en-US" sz="2180" dirty="0">
              <a:latin typeface="+mn-lt"/>
              <a:cs typeface="+mn-lt"/>
            </a:endParaRPr>
          </a:p>
          <a:p>
            <a:pPr marL="368300" lvl="0" algn="l" rtl="0">
              <a:lnSpc>
                <a:spcPct val="90000"/>
              </a:lnSpc>
              <a:spcBef>
                <a:spcPts val="1000"/>
              </a:spcBef>
              <a:spcAft>
                <a:spcPts val="0"/>
              </a:spcAft>
              <a:buSzPts val="2400"/>
              <a:buFont typeface="Arial" panose="020B0604020202020204" pitchFamily="34" charset="0"/>
              <a:buChar char="•"/>
            </a:pPr>
            <a:r>
              <a:rPr lang="en-IN" altLang="en-US" sz="2180" dirty="0">
                <a:latin typeface="+mn-lt"/>
                <a:cs typeface="+mn-lt"/>
              </a:rPr>
              <a:t>Introduction</a:t>
            </a:r>
            <a:endParaRPr lang="en-IN" altLang="en-US" sz="2180" dirty="0">
              <a:latin typeface="+mn-lt"/>
              <a:cs typeface="+mn-lt"/>
            </a:endParaRPr>
          </a:p>
          <a:p>
            <a:pPr marL="368300" lvl="0" algn="l" rtl="0">
              <a:lnSpc>
                <a:spcPct val="90000"/>
              </a:lnSpc>
              <a:spcBef>
                <a:spcPts val="1000"/>
              </a:spcBef>
              <a:spcAft>
                <a:spcPts val="0"/>
              </a:spcAft>
              <a:buSzPts val="2400"/>
              <a:buFont typeface="Arial" panose="020B0604020202020204" pitchFamily="34" charset="0"/>
              <a:buChar char="•"/>
            </a:pPr>
            <a:r>
              <a:rPr lang="en-IN" altLang="en-US" sz="2180" dirty="0">
                <a:latin typeface="+mn-lt"/>
                <a:cs typeface="+mn-lt"/>
              </a:rPr>
              <a:t>Data Description</a:t>
            </a:r>
            <a:endParaRPr lang="en-IN" altLang="en-US" sz="2180" dirty="0">
              <a:latin typeface="+mn-lt"/>
              <a:cs typeface="+mn-lt"/>
            </a:endParaRPr>
          </a:p>
          <a:p>
            <a:pPr marL="368300" lvl="0" algn="l" rtl="0">
              <a:lnSpc>
                <a:spcPct val="90000"/>
              </a:lnSpc>
              <a:spcBef>
                <a:spcPts val="1000"/>
              </a:spcBef>
              <a:spcAft>
                <a:spcPts val="0"/>
              </a:spcAft>
              <a:buSzPts val="2400"/>
              <a:buFont typeface="Arial" panose="020B0604020202020204" pitchFamily="34" charset="0"/>
              <a:buChar char="•"/>
            </a:pPr>
            <a:r>
              <a:rPr lang="en-US" altLang="en-GB" sz="2180" dirty="0">
                <a:latin typeface="+mn-lt"/>
                <a:cs typeface="+mn-lt"/>
              </a:rPr>
              <a:t>Key analysis questions </a:t>
            </a:r>
            <a:r>
              <a:rPr lang="en-IN" altLang="en-US" sz="2180" dirty="0">
                <a:latin typeface="+mn-lt"/>
                <a:cs typeface="+mn-lt"/>
              </a:rPr>
              <a:t>and insights</a:t>
            </a:r>
            <a:endParaRPr lang="en-US" altLang="en-GB" sz="2180" dirty="0">
              <a:latin typeface="+mn-lt"/>
              <a:cs typeface="+mn-lt"/>
            </a:endParaRPr>
          </a:p>
          <a:p>
            <a:pPr marL="368300" lvl="0" algn="l" rtl="0">
              <a:lnSpc>
                <a:spcPct val="90000"/>
              </a:lnSpc>
              <a:spcBef>
                <a:spcPts val="1000"/>
              </a:spcBef>
              <a:spcAft>
                <a:spcPts val="0"/>
              </a:spcAft>
              <a:buSzPts val="2400"/>
              <a:buFont typeface="Arial" panose="020B0604020202020204" pitchFamily="34" charset="0"/>
              <a:buChar char="•"/>
            </a:pPr>
            <a:r>
              <a:rPr lang="en-IN" altLang="en-US" sz="2180" dirty="0">
                <a:latin typeface="+mn-lt"/>
                <a:cs typeface="+mn-lt"/>
              </a:rPr>
              <a:t>Recommendations</a:t>
            </a:r>
            <a:endParaRPr lang="en-US" altLang="en-GB" sz="2180" dirty="0">
              <a:latin typeface="+mn-lt"/>
              <a:cs typeface="+mn-lt"/>
            </a:endParaRPr>
          </a:p>
          <a:p>
            <a:pPr marL="368300" lvl="0" algn="l" rtl="0">
              <a:lnSpc>
                <a:spcPct val="90000"/>
              </a:lnSpc>
              <a:spcBef>
                <a:spcPts val="1000"/>
              </a:spcBef>
              <a:spcAft>
                <a:spcPts val="0"/>
              </a:spcAft>
              <a:buSzPts val="2400"/>
              <a:buFont typeface="Arial" panose="020B0604020202020204" pitchFamily="34" charset="0"/>
              <a:buChar char="•"/>
            </a:pPr>
            <a:r>
              <a:rPr lang="en-US" altLang="en-GB" sz="2180" dirty="0">
                <a:latin typeface="+mn-lt"/>
                <a:cs typeface="+mn-lt"/>
              </a:rPr>
              <a:t>Conclusion </a:t>
            </a:r>
            <a:endParaRPr lang="en-US" altLang="en-GB" sz="2180" dirty="0">
              <a:latin typeface="+mn-lt"/>
              <a:cs typeface="+mn-lt"/>
            </a:endParaRPr>
          </a:p>
          <a:p>
            <a:pPr marL="368300" lvl="0" algn="l" rtl="0">
              <a:lnSpc>
                <a:spcPct val="90000"/>
              </a:lnSpc>
              <a:spcBef>
                <a:spcPts val="1000"/>
              </a:spcBef>
              <a:spcAft>
                <a:spcPts val="0"/>
              </a:spcAft>
              <a:buSzPts val="2400"/>
              <a:buFont typeface="Arial" panose="020B0604020202020204" pitchFamily="34" charset="0"/>
              <a:buChar char="•"/>
            </a:pPr>
            <a:r>
              <a:rPr lang="en-US" altLang="en-GB" sz="2180" dirty="0">
                <a:latin typeface="+mn-lt"/>
                <a:cs typeface="+mn-lt"/>
              </a:rPr>
              <a:t>Experience</a:t>
            </a:r>
            <a:r>
              <a:rPr lang="en-IN" altLang="en-US" sz="2180" dirty="0">
                <a:latin typeface="+mn-lt"/>
                <a:cs typeface="+mn-lt"/>
              </a:rPr>
              <a:t> &amp; c</a:t>
            </a:r>
            <a:r>
              <a:rPr lang="en-US" altLang="en-GB" sz="2180" dirty="0">
                <a:latin typeface="+mn-lt"/>
                <a:cs typeface="+mn-lt"/>
              </a:rPr>
              <a:t>hallenges </a:t>
            </a:r>
            <a:r>
              <a:rPr lang="en-IN" altLang="en-US" sz="2180" dirty="0">
                <a:latin typeface="+mn-lt"/>
                <a:cs typeface="+mn-lt"/>
              </a:rPr>
              <a:t>while </a:t>
            </a:r>
            <a:r>
              <a:rPr lang="en-US" altLang="en-GB" sz="2180" dirty="0">
                <a:latin typeface="+mn-lt"/>
                <a:cs typeface="+mn-lt"/>
              </a:rPr>
              <a:t>working</a:t>
            </a:r>
            <a:endParaRPr lang="en-US" altLang="en-GB" sz="2180" dirty="0">
              <a:latin typeface="+mn-lt"/>
              <a:cs typeface="+mn-lt"/>
            </a:endParaRPr>
          </a:p>
          <a:p>
            <a:pPr marL="368300" lvl="0" algn="l" rtl="0">
              <a:lnSpc>
                <a:spcPct val="90000"/>
              </a:lnSpc>
              <a:spcBef>
                <a:spcPts val="1000"/>
              </a:spcBef>
              <a:spcAft>
                <a:spcPts val="0"/>
              </a:spcAft>
              <a:buSzPts val="2400"/>
              <a:buFont typeface="Arial" panose="020B0604020202020204" pitchFamily="34" charset="0"/>
              <a:buChar char="•"/>
            </a:pPr>
            <a:r>
              <a:rPr lang="en-US" altLang="en-GB" sz="2180" dirty="0">
                <a:latin typeface="+mn-lt"/>
                <a:cs typeface="+mn-lt"/>
                <a:sym typeface="+mn-ea"/>
              </a:rPr>
              <a:t>Q&amp;A Slide </a:t>
            </a:r>
            <a:endParaRPr lang="en-US" altLang="en-GB" sz="2180" dirty="0">
              <a:latin typeface="+mn-lt"/>
              <a:cs typeface="+mn-lt"/>
            </a:endParaRPr>
          </a:p>
          <a:p>
            <a:pPr marL="368300" lvl="0" algn="l" rtl="0">
              <a:lnSpc>
                <a:spcPct val="90000"/>
              </a:lnSpc>
              <a:spcBef>
                <a:spcPts val="1000"/>
              </a:spcBef>
              <a:spcAft>
                <a:spcPts val="0"/>
              </a:spcAft>
              <a:buSzPts val="2400"/>
              <a:buFont typeface="Arial" panose="020B0604020202020204" pitchFamily="34" charset="0"/>
              <a:buChar char="•"/>
            </a:pPr>
            <a:endParaRPr lang="en-US" altLang="en-GB" sz="3600" dirty="0"/>
          </a:p>
          <a:p>
            <a:pPr marL="25400" lvl="0" indent="0" algn="l" rtl="0">
              <a:lnSpc>
                <a:spcPct val="90000"/>
              </a:lnSpc>
              <a:spcBef>
                <a:spcPts val="1000"/>
              </a:spcBef>
              <a:spcAft>
                <a:spcPts val="0"/>
              </a:spcAft>
              <a:buSzPts val="2400"/>
              <a:buNone/>
            </a:pPr>
            <a:endParaRPr lang="en-US" altLang="en-GB" sz="7200" dirty="0"/>
          </a:p>
          <a:p>
            <a:pPr marL="457200" lvl="0" indent="-431800" algn="l" rtl="0">
              <a:lnSpc>
                <a:spcPct val="90000"/>
              </a:lnSpc>
              <a:spcBef>
                <a:spcPts val="1000"/>
              </a:spcBef>
              <a:spcAft>
                <a:spcPts val="0"/>
              </a:spcAft>
              <a:buSzPts val="2400"/>
              <a:buChar char="•"/>
            </a:pPr>
            <a:endParaRPr lang="en-US" altLang="en-GB" sz="2400" dirty="0"/>
          </a:p>
          <a:p>
            <a:pPr marL="457200" lvl="0" indent="-431800" algn="l" rtl="0">
              <a:lnSpc>
                <a:spcPct val="90000"/>
              </a:lnSpc>
              <a:spcBef>
                <a:spcPts val="1000"/>
              </a:spcBef>
              <a:spcAft>
                <a:spcPts val="0"/>
              </a:spcAft>
              <a:buSzPts val="2400"/>
              <a:buChar char="•"/>
            </a:pPr>
            <a:endParaRPr lang="en-US" altLang="en-GB" sz="2400" dirty="0"/>
          </a:p>
        </p:txBody>
      </p:sp>
      <p:sp>
        <p:nvSpPr>
          <p:cNvPr id="13" name="Title 1"/>
          <p:cNvSpPr>
            <a:spLocks noGrp="1"/>
          </p:cNvSpPr>
          <p:nvPr/>
        </p:nvSpPr>
        <p:spPr>
          <a:xfrm>
            <a:off x="1183005" y="664210"/>
            <a:ext cx="10515600" cy="847855"/>
          </a:xfrm>
          <a:prstGeom prst="rect">
            <a:avLst/>
          </a:prstGeom>
          <a:noFill/>
          <a:ln>
            <a:noFill/>
          </a:ln>
        </p:spPr>
        <p:txBody>
          <a:bodyPr wrap="square" lIns="91425" tIns="45700" rIns="91425" bIns="45700" anchor="ctr" anchorCtr="0">
            <a:norm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1800"/>
              <a:buFont typeface="Calibri" panose="020F0502020204030204"/>
              <a:buNone/>
              <a:defRPr sz="4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r>
              <a:rPr lang="en-IN" sz="3200" b="1" dirty="0" smtClean="0">
                <a:solidFill>
                  <a:srgbClr val="C00000"/>
                </a:solidFill>
              </a:rPr>
              <a:t>Agenda:</a:t>
            </a:r>
            <a:endParaRPr lang="en-IN" sz="3200" b="1" dirty="0">
              <a:solidFill>
                <a:srgbClr val="C00000"/>
              </a:solidFill>
            </a:endParaRP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 name="Title 1"/>
          <p:cNvSpPr>
            <a:spLocks noGrp="1"/>
          </p:cNvSpPr>
          <p:nvPr/>
        </p:nvSpPr>
        <p:spPr>
          <a:xfrm>
            <a:off x="1057910" y="664210"/>
            <a:ext cx="10515600" cy="847855"/>
          </a:xfrm>
          <a:prstGeom prst="rect">
            <a:avLst/>
          </a:prstGeom>
          <a:noFill/>
          <a:ln>
            <a:noFill/>
          </a:ln>
        </p:spPr>
        <p:txBody>
          <a:bodyPr wrap="square" lIns="91425" tIns="45700" rIns="91425" bIns="45700" anchor="ctr" anchorCtr="0">
            <a:norm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1800"/>
              <a:buFont typeface="Calibri" panose="020F0502020204030204"/>
              <a:buNone/>
              <a:defRPr sz="4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r>
              <a:rPr lang="en-IN" sz="3200" b="1" dirty="0" smtClean="0">
                <a:solidFill>
                  <a:srgbClr val="C00000"/>
                </a:solidFill>
              </a:rPr>
              <a:t>Business Problem:</a:t>
            </a:r>
            <a:endParaRPr lang="en-IN" sz="3200" b="1" dirty="0">
              <a:solidFill>
                <a:srgbClr val="C00000"/>
              </a:solidFill>
            </a:endParaRPr>
          </a:p>
        </p:txBody>
      </p:sp>
      <p:sp>
        <p:nvSpPr>
          <p:cNvPr id="4" name="Text Box 3"/>
          <p:cNvSpPr txBox="1"/>
          <p:nvPr/>
        </p:nvSpPr>
        <p:spPr>
          <a:xfrm>
            <a:off x="1057910" y="1889760"/>
            <a:ext cx="9120505" cy="3411220"/>
          </a:xfrm>
          <a:prstGeom prst="rect">
            <a:avLst/>
          </a:prstGeom>
        </p:spPr>
        <p:txBody>
          <a:bodyPr wrap="square">
            <a:noAutofit/>
          </a:bodyPr>
          <a:p>
            <a:pPr marL="285750" indent="-285750" algn="just">
              <a:buFont typeface="Arial" panose="020B0604020202020204" pitchFamily="34" charset="0"/>
              <a:buChar char="•"/>
            </a:pPr>
            <a:r>
              <a:rPr lang="en-US" altLang="zh-CN" sz="1800">
                <a:latin typeface="+mn-lt"/>
                <a:cs typeface="+mn-lt"/>
              </a:rPr>
              <a:t>The music store generates large volumes of data across customers, invoices, tracks, artists, and genres.</a:t>
            </a:r>
            <a:endParaRPr lang="en-US" altLang="zh-CN" sz="1800">
              <a:latin typeface="+mn-lt"/>
              <a:cs typeface="+mn-lt"/>
            </a:endParaRPr>
          </a:p>
          <a:p>
            <a:pPr marL="285750" indent="-285750" algn="just">
              <a:buFont typeface="Arial" panose="020B0604020202020204" pitchFamily="34" charset="0"/>
              <a:buChar char="•"/>
            </a:pPr>
            <a:r>
              <a:rPr lang="en-US" altLang="zh-CN" sz="1800">
                <a:latin typeface="+mn-lt"/>
                <a:cs typeface="+mn-lt"/>
              </a:rPr>
              <a:t>However, raw transaction data does not clearly show where revenue comes from or what drives customer purchases.</a:t>
            </a:r>
            <a:endParaRPr lang="en-US" altLang="zh-CN" sz="1800">
              <a:latin typeface="+mn-lt"/>
              <a:cs typeface="+mn-lt"/>
            </a:endParaRPr>
          </a:p>
          <a:p>
            <a:pPr marL="285750" indent="-285750" algn="just">
              <a:buFont typeface="Arial" panose="020B0604020202020204" pitchFamily="34" charset="0"/>
              <a:buChar char="•"/>
            </a:pPr>
            <a:r>
              <a:rPr lang="en-US" altLang="zh-CN" sz="1800">
                <a:latin typeface="+mn-lt"/>
                <a:cs typeface="+mn-lt"/>
              </a:rPr>
              <a:t>The business needs to identify high-value customers, profitable markets, and popular music preferences.</a:t>
            </a:r>
            <a:endParaRPr lang="en-US" altLang="zh-CN" sz="1800">
              <a:latin typeface="+mn-lt"/>
              <a:cs typeface="+mn-lt"/>
            </a:endParaRPr>
          </a:p>
          <a:p>
            <a:pPr marL="285750" indent="-285750" algn="just">
              <a:buFont typeface="Arial" panose="020B0604020202020204" pitchFamily="34" charset="0"/>
              <a:buChar char="•"/>
            </a:pPr>
            <a:r>
              <a:rPr lang="en-US" altLang="zh-CN" sz="1800">
                <a:latin typeface="+mn-lt"/>
                <a:cs typeface="+mn-lt"/>
              </a:rPr>
              <a:t>These insights can help improve promotional targeting, customer engagement, and sales decisions.</a:t>
            </a:r>
            <a:endParaRPr lang="en-US" altLang="zh-CN" sz="1800">
              <a:latin typeface="+mn-lt"/>
              <a:cs typeface="+mn-lt"/>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 name="Title 1"/>
          <p:cNvSpPr>
            <a:spLocks noGrp="1"/>
          </p:cNvSpPr>
          <p:nvPr/>
        </p:nvSpPr>
        <p:spPr>
          <a:xfrm>
            <a:off x="932180" y="596900"/>
            <a:ext cx="10515600" cy="847855"/>
          </a:xfrm>
          <a:prstGeom prst="rect">
            <a:avLst/>
          </a:prstGeom>
          <a:noFill/>
          <a:ln>
            <a:noFill/>
          </a:ln>
        </p:spPr>
        <p:txBody>
          <a:bodyPr wrap="square" lIns="91425" tIns="45700" rIns="91425" bIns="45700" anchor="ctr" anchorCtr="0">
            <a:norm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1800"/>
              <a:buFont typeface="Calibri" panose="020F0502020204030204"/>
              <a:buNone/>
              <a:defRPr sz="4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r>
              <a:rPr lang="en-IN" sz="3200" b="1" dirty="0" smtClean="0">
                <a:solidFill>
                  <a:srgbClr val="C00000"/>
                </a:solidFill>
              </a:rPr>
              <a:t>Business Statement:</a:t>
            </a:r>
            <a:endParaRPr lang="en-IN" sz="3200" b="1" dirty="0">
              <a:solidFill>
                <a:srgbClr val="C00000"/>
              </a:solidFill>
            </a:endParaRPr>
          </a:p>
        </p:txBody>
      </p:sp>
      <p:sp>
        <p:nvSpPr>
          <p:cNvPr id="4" name="Text Box 3"/>
          <p:cNvSpPr txBox="1"/>
          <p:nvPr/>
        </p:nvSpPr>
        <p:spPr>
          <a:xfrm>
            <a:off x="1057910" y="1708150"/>
            <a:ext cx="9120505" cy="3441065"/>
          </a:xfrm>
          <a:prstGeom prst="rect">
            <a:avLst/>
          </a:prstGeom>
        </p:spPr>
        <p:txBody>
          <a:bodyPr wrap="square">
            <a:noAutofit/>
          </a:bodyPr>
          <a:p>
            <a:pPr marL="0" indent="0" algn="just">
              <a:buFont typeface="Arial" panose="020B0604020202020204" pitchFamily="34" charset="0"/>
              <a:buNone/>
            </a:pPr>
            <a:r>
              <a:rPr lang="en-US" altLang="en-GB" sz="1800">
                <a:latin typeface="+mn-lt"/>
                <a:cs typeface="+mn-lt"/>
              </a:rPr>
              <a:t>Analyze the available sales and customer data to uncover revenue patterns, customer value, geographic performance, and music preferences, providing management with evidence-based insights for targeted business actions.</a:t>
            </a:r>
            <a:endParaRPr lang="en-US" altLang="en-GB" sz="1800">
              <a:latin typeface="+mn-lt"/>
              <a:cs typeface="+mn-lt"/>
            </a:endParaRPr>
          </a:p>
          <a:p>
            <a:pPr marL="285750" indent="-285750" algn="just" eaLnBrk="0" fontAlgn="base" hangingPunct="0">
              <a:lnSpc>
                <a:spcPct val="150000"/>
              </a:lnSpc>
              <a:spcBef>
                <a:spcPct val="0"/>
              </a:spcBef>
              <a:spcAft>
                <a:spcPct val="0"/>
              </a:spcAft>
              <a:buClrTx/>
              <a:buSzTx/>
              <a:buFont typeface="Arial" panose="020B0604020202020204" pitchFamily="34" charset="0"/>
              <a:buChar char="•"/>
            </a:pPr>
            <a:r>
              <a:rPr lang="en-US" altLang="en-GB" sz="1800" dirty="0" smtClean="0">
                <a:ln>
                  <a:noFill/>
                </a:ln>
                <a:solidFill>
                  <a:schemeClr val="tx1"/>
                </a:solidFill>
                <a:effectLst/>
                <a:latin typeface="Arial" panose="020B0604020202020204" pitchFamily="34" charset="0"/>
                <a:sym typeface="+mn-ea"/>
              </a:rPr>
              <a:t>Design and implement a structured relational database with appropriate keys and relationships.</a:t>
            </a:r>
            <a:endParaRPr kumimoji="0" lang="en-US" altLang="en-GB" sz="1800" b="0" i="0" u="none" strike="noStrike" cap="none" normalizeH="0" baseline="0" dirty="0" smtClean="0">
              <a:ln>
                <a:noFill/>
              </a:ln>
              <a:solidFill>
                <a:schemeClr val="tx1"/>
              </a:solidFill>
              <a:effectLst/>
              <a:latin typeface="Arial" panose="020B0604020202020204" pitchFamily="34" charset="0"/>
            </a:endParaRPr>
          </a:p>
          <a:p>
            <a:pPr marL="285750" indent="-285750" algn="just" eaLnBrk="0" fontAlgn="base" hangingPunct="0">
              <a:lnSpc>
                <a:spcPct val="150000"/>
              </a:lnSpc>
              <a:spcBef>
                <a:spcPct val="0"/>
              </a:spcBef>
              <a:spcAft>
                <a:spcPct val="0"/>
              </a:spcAft>
              <a:buClrTx/>
              <a:buSzTx/>
              <a:buFont typeface="Arial" panose="020B0604020202020204" pitchFamily="34" charset="0"/>
              <a:buChar char="•"/>
            </a:pPr>
            <a:r>
              <a:rPr lang="en-US" altLang="en-GB" sz="1800" dirty="0" smtClean="0">
                <a:ln>
                  <a:noFill/>
                </a:ln>
                <a:solidFill>
                  <a:schemeClr val="tx1"/>
                </a:solidFill>
                <a:effectLst/>
                <a:latin typeface="Arial" panose="020B0604020202020204" pitchFamily="34" charset="0"/>
                <a:sym typeface="+mn-ea"/>
              </a:rPr>
              <a:t>Import and validate the music store data across related tables.</a:t>
            </a:r>
            <a:endParaRPr kumimoji="0" lang="en-US" altLang="en-GB" sz="1800" b="0" i="0" u="none" strike="noStrike" cap="none" normalizeH="0" baseline="0" dirty="0" smtClean="0">
              <a:ln>
                <a:noFill/>
              </a:ln>
              <a:solidFill>
                <a:schemeClr val="tx1"/>
              </a:solidFill>
              <a:effectLst/>
              <a:latin typeface="Arial" panose="020B0604020202020204" pitchFamily="34" charset="0"/>
            </a:endParaRPr>
          </a:p>
          <a:p>
            <a:pPr marL="285750" indent="-285750" algn="just" eaLnBrk="0" fontAlgn="base" hangingPunct="0">
              <a:lnSpc>
                <a:spcPct val="150000"/>
              </a:lnSpc>
              <a:spcBef>
                <a:spcPct val="0"/>
              </a:spcBef>
              <a:spcAft>
                <a:spcPct val="0"/>
              </a:spcAft>
              <a:buClrTx/>
              <a:buSzTx/>
              <a:buFont typeface="Arial" panose="020B0604020202020204" pitchFamily="34" charset="0"/>
              <a:buChar char="•"/>
            </a:pPr>
            <a:r>
              <a:rPr lang="en-US" altLang="en-GB" sz="1800" dirty="0" smtClean="0">
                <a:ln>
                  <a:noFill/>
                </a:ln>
                <a:solidFill>
                  <a:schemeClr val="tx1"/>
                </a:solidFill>
                <a:effectLst/>
                <a:latin typeface="Arial" panose="020B0604020202020204" pitchFamily="34" charset="0"/>
                <a:sym typeface="+mn-ea"/>
              </a:rPr>
              <a:t>Analyze customer purchases, invoices, artists, tracks, and genres using SQL queries.</a:t>
            </a:r>
            <a:endParaRPr kumimoji="0" lang="en-US" altLang="en-GB" sz="1800" b="0" i="0" u="none" strike="noStrike" cap="none" normalizeH="0" baseline="0" dirty="0" smtClean="0">
              <a:ln>
                <a:noFill/>
              </a:ln>
              <a:solidFill>
                <a:schemeClr val="tx1"/>
              </a:solidFill>
              <a:effectLst/>
              <a:latin typeface="Arial" panose="020B0604020202020204" pitchFamily="34" charset="0"/>
            </a:endParaRPr>
          </a:p>
          <a:p>
            <a:pPr marL="285750" indent="-285750" algn="just" eaLnBrk="0" fontAlgn="base" hangingPunct="0">
              <a:lnSpc>
                <a:spcPct val="150000"/>
              </a:lnSpc>
              <a:spcBef>
                <a:spcPct val="0"/>
              </a:spcBef>
              <a:spcAft>
                <a:spcPct val="0"/>
              </a:spcAft>
              <a:buClrTx/>
              <a:buSzTx/>
              <a:buFont typeface="Arial" panose="020B0604020202020204" pitchFamily="34" charset="0"/>
              <a:buChar char="•"/>
            </a:pPr>
            <a:r>
              <a:rPr lang="en-US" altLang="en-GB" sz="1800" dirty="0" smtClean="0">
                <a:ln>
                  <a:noFill/>
                </a:ln>
                <a:solidFill>
                  <a:schemeClr val="tx1"/>
                </a:solidFill>
                <a:effectLst/>
                <a:latin typeface="Arial" panose="020B0604020202020204" pitchFamily="34" charset="0"/>
                <a:sym typeface="+mn-ea"/>
              </a:rPr>
              <a:t>Apply SQL techniques such as joins, aggregations, subqueries, </a:t>
            </a:r>
            <a:r>
              <a:rPr lang="en-IN" altLang="en-US" sz="1800" dirty="0" smtClean="0">
                <a:ln>
                  <a:noFill/>
                </a:ln>
                <a:solidFill>
                  <a:schemeClr val="tx1"/>
                </a:solidFill>
                <a:effectLst/>
                <a:latin typeface="Arial" panose="020B0604020202020204" pitchFamily="34" charset="0"/>
                <a:sym typeface="+mn-ea"/>
              </a:rPr>
              <a:t>views, CTEs </a:t>
            </a:r>
            <a:r>
              <a:rPr lang="en-US" altLang="en-GB" sz="1800" dirty="0" smtClean="0">
                <a:ln>
                  <a:noFill/>
                </a:ln>
                <a:solidFill>
                  <a:schemeClr val="tx1"/>
                </a:solidFill>
                <a:effectLst/>
                <a:latin typeface="Arial" panose="020B0604020202020204" pitchFamily="34" charset="0"/>
                <a:sym typeface="+mn-ea"/>
              </a:rPr>
              <a:t>and filtering to derive meaningful insights.</a:t>
            </a:r>
            <a:endParaRPr kumimoji="0" lang="en-US" altLang="en-GB" sz="1800" b="0" i="0" u="none" strike="noStrike" cap="none" normalizeH="0" baseline="0" dirty="0" smtClean="0">
              <a:ln>
                <a:noFill/>
              </a:ln>
              <a:solidFill>
                <a:schemeClr val="tx1"/>
              </a:solidFill>
              <a:effectLst/>
              <a:latin typeface="Arial" panose="020B0604020202020204" pitchFamily="34" charset="0"/>
            </a:endParaRPr>
          </a:p>
          <a:p>
            <a:pPr marL="0" indent="0" algn="just">
              <a:buFont typeface="Arial" panose="020B0604020202020204" pitchFamily="34" charset="0"/>
              <a:buNone/>
            </a:pPr>
            <a:endParaRPr lang="en-US" altLang="en-GB" sz="1800">
              <a:latin typeface="+mn-lt"/>
              <a:cs typeface="+mn-lt"/>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5035" y="625475"/>
            <a:ext cx="10515600" cy="847855"/>
          </a:xfrm>
        </p:spPr>
        <p:txBody>
          <a:bodyPr>
            <a:normAutofit/>
          </a:bodyPr>
          <a:lstStyle/>
          <a:p>
            <a:r>
              <a:rPr lang="en-IN" sz="3200" b="1" dirty="0" smtClean="0">
                <a:solidFill>
                  <a:srgbClr val="C00000"/>
                </a:solidFill>
              </a:rPr>
              <a:t>Introduction:</a:t>
            </a:r>
            <a:endParaRPr lang="en-IN" sz="3200" b="1" dirty="0">
              <a:solidFill>
                <a:srgbClr val="C00000"/>
              </a:solidFill>
            </a:endParaRPr>
          </a:p>
        </p:txBody>
      </p:sp>
      <p:sp>
        <p:nvSpPr>
          <p:cNvPr id="5" name="Rectangle 2"/>
          <p:cNvSpPr>
            <a:spLocks noGrp="1" noChangeArrowheads="1"/>
          </p:cNvSpPr>
          <p:nvPr>
            <p:ph type="body" idx="1"/>
          </p:nvPr>
        </p:nvSpPr>
        <p:spPr bwMode="auto">
          <a:xfrm>
            <a:off x="838200" y="1767216"/>
            <a:ext cx="10881049" cy="33229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L="342900" algn="just" eaLnBrk="0" fontAlgn="base" hangingPunct="0">
              <a:lnSpc>
                <a:spcPct val="150000"/>
              </a:lnSpc>
              <a:spcBef>
                <a:spcPct val="0"/>
              </a:spcBef>
              <a:spcAft>
                <a:spcPct val="0"/>
              </a:spcAft>
              <a:buClrTx/>
              <a:buSzTx/>
            </a:pPr>
            <a:r>
              <a:rPr kumimoji="0" lang="en-US" altLang="en-GB" sz="2000" b="0" i="0" u="none" strike="noStrike" cap="none" normalizeH="0" baseline="0" dirty="0" smtClean="0">
                <a:ln>
                  <a:noFill/>
                </a:ln>
                <a:solidFill>
                  <a:schemeClr val="tx1"/>
                </a:solidFill>
                <a:effectLst/>
                <a:latin typeface="Arial" panose="020B0604020202020204" pitchFamily="34" charset="0"/>
              </a:rPr>
              <a:t>This project presents a SQL-driven analysis of a music store’s business data.</a:t>
            </a:r>
            <a:endParaRPr kumimoji="0" lang="en-US" altLang="en-GB" sz="2000" b="0" i="0" u="none" strike="noStrike" cap="none" normalizeH="0" baseline="0" dirty="0" smtClean="0">
              <a:ln>
                <a:noFill/>
              </a:ln>
              <a:solidFill>
                <a:schemeClr val="tx1"/>
              </a:solidFill>
              <a:effectLst/>
              <a:latin typeface="Arial" panose="020B0604020202020204" pitchFamily="34" charset="0"/>
            </a:endParaRPr>
          </a:p>
          <a:p>
            <a:pPr marL="342900" algn="just" eaLnBrk="0" fontAlgn="base" hangingPunct="0">
              <a:lnSpc>
                <a:spcPct val="150000"/>
              </a:lnSpc>
              <a:spcBef>
                <a:spcPct val="0"/>
              </a:spcBef>
              <a:spcAft>
                <a:spcPct val="0"/>
              </a:spcAft>
              <a:buClrTx/>
              <a:buSzTx/>
            </a:pPr>
            <a:r>
              <a:rPr kumimoji="0" lang="en-US" altLang="en-GB" sz="2000" b="0" i="0" u="none" strike="noStrike" cap="none" normalizeH="0" baseline="0" dirty="0" smtClean="0">
                <a:ln>
                  <a:noFill/>
                </a:ln>
                <a:solidFill>
                  <a:schemeClr val="tx1"/>
                </a:solidFill>
                <a:effectLst/>
                <a:latin typeface="Arial" panose="020B0604020202020204" pitchFamily="34" charset="0"/>
              </a:rPr>
              <a:t>It examines the database from multiple perspectives to understand how the store operates and how its transactions are distributed.</a:t>
            </a:r>
            <a:endParaRPr kumimoji="0" lang="en-US" altLang="en-GB" sz="2000" b="0" i="0" u="none" strike="noStrike" cap="none" normalizeH="0" baseline="0" dirty="0" smtClean="0">
              <a:ln>
                <a:noFill/>
              </a:ln>
              <a:solidFill>
                <a:schemeClr val="tx1"/>
              </a:solidFill>
              <a:effectLst/>
              <a:latin typeface="Arial" panose="020B0604020202020204" pitchFamily="34" charset="0"/>
            </a:endParaRPr>
          </a:p>
          <a:p>
            <a:pPr marL="342900" algn="just" eaLnBrk="0" fontAlgn="base" hangingPunct="0">
              <a:lnSpc>
                <a:spcPct val="150000"/>
              </a:lnSpc>
              <a:spcBef>
                <a:spcPct val="0"/>
              </a:spcBef>
              <a:spcAft>
                <a:spcPct val="0"/>
              </a:spcAft>
              <a:buClrTx/>
              <a:buSzTx/>
            </a:pPr>
            <a:r>
              <a:rPr kumimoji="0" lang="en-US" altLang="en-GB" sz="2000" b="0" i="0" u="none" strike="noStrike" cap="none" normalizeH="0" baseline="0" dirty="0" smtClean="0">
                <a:ln>
                  <a:noFill/>
                </a:ln>
                <a:solidFill>
                  <a:schemeClr val="tx1"/>
                </a:solidFill>
                <a:effectLst/>
                <a:latin typeface="Arial" panose="020B0604020202020204" pitchFamily="34" charset="0"/>
              </a:rPr>
              <a:t>The project connects different business entities to provide a complete view of the store’s data ecosystem.</a:t>
            </a:r>
            <a:endParaRPr kumimoji="0" lang="en-US" altLang="en-GB" sz="2000" b="0" i="0" u="none" strike="noStrike" cap="none" normalizeH="0" baseline="0" dirty="0" smtClean="0">
              <a:ln>
                <a:noFill/>
              </a:ln>
              <a:solidFill>
                <a:schemeClr val="tx1"/>
              </a:solidFill>
              <a:effectLst/>
              <a:latin typeface="Arial" panose="020B0604020202020204" pitchFamily="34" charset="0"/>
            </a:endParaRPr>
          </a:p>
          <a:p>
            <a:pPr marL="342900" algn="just" eaLnBrk="0" fontAlgn="base" hangingPunct="0">
              <a:lnSpc>
                <a:spcPct val="150000"/>
              </a:lnSpc>
              <a:spcBef>
                <a:spcPct val="0"/>
              </a:spcBef>
              <a:spcAft>
                <a:spcPct val="0"/>
              </a:spcAft>
              <a:buClrTx/>
              <a:buSzTx/>
            </a:pPr>
            <a:r>
              <a:rPr kumimoji="0" lang="en-US" altLang="en-GB" sz="2000" b="0" i="0" u="none" strike="noStrike" cap="none" normalizeH="0" baseline="0" dirty="0" smtClean="0">
                <a:ln>
                  <a:noFill/>
                </a:ln>
                <a:solidFill>
                  <a:schemeClr val="tx1"/>
                </a:solidFill>
                <a:effectLst/>
                <a:latin typeface="Arial" panose="020B0604020202020204" pitchFamily="34" charset="0"/>
              </a:rPr>
              <a:t>The analysis concludes with key findings, business recommendations, and opportunities for further improvement.</a:t>
            </a:r>
            <a:endParaRPr kumimoji="0" lang="en-US" altLang="en-GB" sz="2000" b="0" i="0" u="none" strike="noStrike" cap="none" normalizeH="0" baseline="0" dirty="0" smtClean="0">
              <a:ln>
                <a:noFill/>
              </a:ln>
              <a:solidFill>
                <a:schemeClr val="tx1"/>
              </a:solidFill>
              <a:effectLst/>
              <a:latin typeface="Arial" panose="020B0604020202020204" pitchFamily="34" charset="0"/>
            </a:endParaRP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ext Box 3"/>
          <p:cNvSpPr txBox="1"/>
          <p:nvPr/>
        </p:nvSpPr>
        <p:spPr>
          <a:xfrm>
            <a:off x="299720" y="899160"/>
            <a:ext cx="5006975" cy="410210"/>
          </a:xfrm>
          <a:prstGeom prst="rect">
            <a:avLst/>
          </a:prstGeom>
          <a:noFill/>
        </p:spPr>
        <p:txBody>
          <a:bodyPr wrap="square" rtlCol="0" anchor="t">
            <a:noAutofit/>
          </a:bodyPr>
          <a:p>
            <a:r>
              <a:rPr lang="en-IN" sz="2000" b="1" dirty="0" smtClean="0">
                <a:solidFill>
                  <a:srgbClr val="C00000"/>
                </a:solidFill>
                <a:sym typeface="+mn-ea"/>
              </a:rPr>
              <a:t>1. ER Diagram:</a:t>
            </a:r>
            <a:endParaRPr lang="en-IN" altLang="en-US" sz="2000" b="1" dirty="0" smtClean="0">
              <a:solidFill>
                <a:srgbClr val="C00000"/>
              </a:solidFill>
              <a:sym typeface="+mn-ea"/>
            </a:endParaRPr>
          </a:p>
        </p:txBody>
      </p:sp>
      <p:pic>
        <p:nvPicPr>
          <p:cNvPr id="6" name="Picture 5"/>
          <p:cNvPicPr>
            <a:picLocks noChangeAspect="1"/>
          </p:cNvPicPr>
          <p:nvPr/>
        </p:nvPicPr>
        <p:blipFill>
          <a:blip r:embed="rId1"/>
          <a:srcRect t="2355" r="4344"/>
          <a:stretch>
            <a:fillRect/>
          </a:stretch>
        </p:blipFill>
        <p:spPr>
          <a:xfrm>
            <a:off x="3126105" y="0"/>
            <a:ext cx="9065895" cy="6896735"/>
          </a:xfrm>
          <a:prstGeom prst="rect">
            <a:avLst/>
          </a:prstGeom>
        </p:spPr>
      </p:pic>
      <p:sp>
        <p:nvSpPr>
          <p:cNvPr id="2" name="Text Box 1"/>
          <p:cNvSpPr txBox="1"/>
          <p:nvPr/>
        </p:nvSpPr>
        <p:spPr>
          <a:xfrm>
            <a:off x="165100" y="264160"/>
            <a:ext cx="5006975" cy="410210"/>
          </a:xfrm>
          <a:prstGeom prst="rect">
            <a:avLst/>
          </a:prstGeom>
          <a:noFill/>
        </p:spPr>
        <p:txBody>
          <a:bodyPr wrap="square" rtlCol="0" anchor="t">
            <a:noAutofit/>
          </a:bodyPr>
          <a:p>
            <a:r>
              <a:rPr lang="en-IN" sz="2800" b="1" dirty="0" smtClean="0">
                <a:solidFill>
                  <a:srgbClr val="C00000"/>
                </a:solidFill>
                <a:sym typeface="+mn-ea"/>
              </a:rPr>
              <a:t>Data Description:</a:t>
            </a:r>
            <a:endParaRPr lang="en-IN" altLang="en-US" sz="2800" b="1" dirty="0" smtClean="0">
              <a:solidFill>
                <a:srgbClr val="C00000"/>
              </a:solidFill>
              <a:sym typeface="+mn-ea"/>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5" name="Table 4"/>
          <p:cNvGraphicFramePr/>
          <p:nvPr/>
        </p:nvGraphicFramePr>
        <p:xfrm>
          <a:off x="806450" y="1351915"/>
          <a:ext cx="10499725" cy="4572000"/>
        </p:xfrm>
        <a:graphic>
          <a:graphicData uri="http://schemas.openxmlformats.org/drawingml/2006/table">
            <a:tbl>
              <a:tblPr firstRow="1" bandRow="1">
                <a:tableStyleId>{5C22544A-7EE6-4342-B048-85BDC9FD1C3A}</a:tableStyleId>
              </a:tblPr>
              <a:tblGrid>
                <a:gridCol w="4020820"/>
                <a:gridCol w="1888490"/>
                <a:gridCol w="4590415"/>
              </a:tblGrid>
              <a:tr h="381000">
                <a:tc>
                  <a:txBody>
                    <a:bodyPr/>
                    <a:p>
                      <a:pPr algn="ctr">
                        <a:buNone/>
                      </a:pPr>
                      <a:r>
                        <a:rPr lang="en-US" altLang="en-GB"/>
                        <a:t>Relationship</a:t>
                      </a:r>
                      <a:endParaRPr lang="en-US" altLang="en-GB"/>
                    </a:p>
                  </a:txBody>
                  <a:tcPr anchor="ctr" anchorCtr="0"/>
                </a:tc>
                <a:tc>
                  <a:txBody>
                    <a:bodyPr/>
                    <a:p>
                      <a:pPr algn="ctr">
                        <a:buNone/>
                      </a:pPr>
                      <a:r>
                        <a:rPr lang="en-US" altLang="en-GB"/>
                        <a:t>Cardinality</a:t>
                      </a:r>
                      <a:endParaRPr lang="en-US" altLang="en-GB"/>
                    </a:p>
                  </a:txBody>
                  <a:tcPr anchor="ctr" anchorCtr="0"/>
                </a:tc>
                <a:tc>
                  <a:txBody>
                    <a:bodyPr/>
                    <a:p>
                      <a:pPr algn="ctr">
                        <a:buNone/>
                      </a:pPr>
                      <a:r>
                        <a:rPr lang="en-US" altLang="en-GB"/>
                        <a:t>Why</a:t>
                      </a:r>
                      <a:endParaRPr lang="en-US" altLang="en-GB"/>
                    </a:p>
                  </a:txBody>
                  <a:tcPr anchor="ctr" anchorCtr="0"/>
                </a:tc>
              </a:tr>
              <a:tr h="381000">
                <a:tc>
                  <a:txBody>
                    <a:bodyPr/>
                    <a:p>
                      <a:pPr>
                        <a:buNone/>
                      </a:pPr>
                      <a:r>
                        <a:rPr lang="en-US" altLang="en-GB"/>
                        <a:t>Employee </a:t>
                      </a:r>
                      <a:r>
                        <a:rPr lang="en-US" altLang="en-US"/>
                        <a:t>→</a:t>
                      </a:r>
                      <a:r>
                        <a:rPr lang="en-US" altLang="en-GB"/>
                        <a:t> Employee (reports_to)</a:t>
                      </a:r>
                      <a:endParaRPr lang="en-US" altLang="en-GB"/>
                    </a:p>
                  </a:txBody>
                  <a:tcPr/>
                </a:tc>
                <a:tc>
                  <a:txBody>
                    <a:bodyPr/>
                    <a:p>
                      <a:pPr>
                        <a:buNone/>
                      </a:pPr>
                      <a:r>
                        <a:rPr lang="en-US" altLang="en-GB"/>
                        <a:t>1 : N</a:t>
                      </a:r>
                      <a:endParaRPr lang="en-US" altLang="en-GB"/>
                    </a:p>
                  </a:txBody>
                  <a:tcPr/>
                </a:tc>
                <a:tc>
                  <a:txBody>
                    <a:bodyPr/>
                    <a:p>
                      <a:pPr>
                        <a:buNone/>
                      </a:pPr>
                      <a:r>
                        <a:rPr lang="en-US" altLang="en-GB"/>
                        <a:t>One manager can report many employees</a:t>
                      </a:r>
                      <a:endParaRPr lang="en-US" altLang="en-GB"/>
                    </a:p>
                  </a:txBody>
                  <a:tcPr/>
                </a:tc>
              </a:tr>
              <a:tr h="381000">
                <a:tc>
                  <a:txBody>
                    <a:bodyPr/>
                    <a:p>
                      <a:pPr>
                        <a:buNone/>
                      </a:pPr>
                      <a:r>
                        <a:rPr lang="en-US" altLang="en-GB"/>
                        <a:t>Employee </a:t>
                      </a:r>
                      <a:r>
                        <a:rPr lang="en-US" altLang="en-US"/>
                        <a:t>→</a:t>
                      </a:r>
                      <a:r>
                        <a:rPr lang="en-US" altLang="en-GB"/>
                        <a:t> Customer (support_rep_id)</a:t>
                      </a:r>
                      <a:endParaRPr lang="en-US" altLang="en-GB"/>
                    </a:p>
                  </a:txBody>
                  <a:tcPr/>
                </a:tc>
                <a:tc>
                  <a:txBody>
                    <a:bodyPr/>
                    <a:p>
                      <a:pPr>
                        <a:buNone/>
                      </a:pPr>
                      <a:r>
                        <a:rPr lang="en-US" altLang="en-GB"/>
                        <a:t>1 : N</a:t>
                      </a:r>
                      <a:endParaRPr lang="en-US" altLang="en-GB"/>
                    </a:p>
                  </a:txBody>
                  <a:tcPr/>
                </a:tc>
                <a:tc>
                  <a:txBody>
                    <a:bodyPr/>
                    <a:p>
                      <a:pPr>
                        <a:buNone/>
                      </a:pPr>
                      <a:r>
                        <a:rPr lang="en-US" altLang="en-GB"/>
                        <a:t>One employee can support many customers</a:t>
                      </a:r>
                      <a:endParaRPr lang="en-US" altLang="en-GB"/>
                    </a:p>
                  </a:txBody>
                  <a:tcPr/>
                </a:tc>
              </a:tr>
              <a:tr h="381000">
                <a:tc>
                  <a:txBody>
                    <a:bodyPr/>
                    <a:p>
                      <a:pPr>
                        <a:buNone/>
                      </a:pPr>
                      <a:r>
                        <a:rPr lang="en-US" altLang="en-GB"/>
                        <a:t>Customer </a:t>
                      </a:r>
                      <a:r>
                        <a:rPr lang="en-US" altLang="en-US"/>
                        <a:t>→</a:t>
                      </a:r>
                      <a:r>
                        <a:rPr lang="en-US" altLang="en-GB"/>
                        <a:t> Invoice (customer_id)</a:t>
                      </a:r>
                      <a:endParaRPr lang="en-US" altLang="en-GB"/>
                    </a:p>
                  </a:txBody>
                  <a:tcPr/>
                </a:tc>
                <a:tc>
                  <a:txBody>
                    <a:bodyPr/>
                    <a:p>
                      <a:pPr>
                        <a:buNone/>
                      </a:pPr>
                      <a:r>
                        <a:rPr lang="en-US" altLang="en-GB"/>
                        <a:t>1 : N</a:t>
                      </a:r>
                      <a:endParaRPr lang="en-US" altLang="en-GB"/>
                    </a:p>
                  </a:txBody>
                  <a:tcPr/>
                </a:tc>
                <a:tc>
                  <a:txBody>
                    <a:bodyPr/>
                    <a:p>
                      <a:pPr>
                        <a:buNone/>
                      </a:pPr>
                      <a:r>
                        <a:rPr lang="en-US" altLang="en-GB"/>
                        <a:t>One customer can have many invoices</a:t>
                      </a:r>
                      <a:endParaRPr lang="en-US" altLang="en-GB"/>
                    </a:p>
                  </a:txBody>
                  <a:tcPr/>
                </a:tc>
              </a:tr>
              <a:tr h="381000">
                <a:tc>
                  <a:txBody>
                    <a:bodyPr/>
                    <a:p>
                      <a:pPr>
                        <a:buNone/>
                      </a:pPr>
                      <a:r>
                        <a:rPr lang="en-US" altLang="en-GB"/>
                        <a:t>Invoice </a:t>
                      </a:r>
                      <a:r>
                        <a:rPr lang="en-US" altLang="en-US"/>
                        <a:t>→</a:t>
                      </a:r>
                      <a:r>
                        <a:rPr lang="en-US" altLang="en-GB"/>
                        <a:t> InvoiceLine (invoice_id)</a:t>
                      </a:r>
                      <a:endParaRPr lang="en-US" altLang="en-GB"/>
                    </a:p>
                  </a:txBody>
                  <a:tcPr/>
                </a:tc>
                <a:tc>
                  <a:txBody>
                    <a:bodyPr/>
                    <a:p>
                      <a:pPr>
                        <a:buNone/>
                      </a:pPr>
                      <a:r>
                        <a:rPr lang="en-US" altLang="en-GB"/>
                        <a:t>1 : N</a:t>
                      </a:r>
                      <a:endParaRPr lang="en-US" altLang="en-GB"/>
                    </a:p>
                  </a:txBody>
                  <a:tcPr/>
                </a:tc>
                <a:tc>
                  <a:txBody>
                    <a:bodyPr/>
                    <a:p>
                      <a:pPr>
                        <a:buNone/>
                      </a:pPr>
                      <a:r>
                        <a:rPr lang="en-US" altLang="en-GB"/>
                        <a:t>One invoice contains many line items</a:t>
                      </a:r>
                      <a:endParaRPr lang="en-US" altLang="en-GB"/>
                    </a:p>
                  </a:txBody>
                  <a:tcPr/>
                </a:tc>
              </a:tr>
              <a:tr h="381000">
                <a:tc>
                  <a:txBody>
                    <a:bodyPr/>
                    <a:p>
                      <a:pPr>
                        <a:buNone/>
                      </a:pPr>
                      <a:r>
                        <a:rPr lang="en-US" altLang="en-GB"/>
                        <a:t>Track </a:t>
                      </a:r>
                      <a:r>
                        <a:rPr lang="en-US" altLang="en-US"/>
                        <a:t>→</a:t>
                      </a:r>
                      <a:r>
                        <a:rPr lang="en-US" altLang="en-GB"/>
                        <a:t> InvoiceLine (track_id)</a:t>
                      </a:r>
                      <a:endParaRPr lang="en-US" altLang="en-GB"/>
                    </a:p>
                  </a:txBody>
                  <a:tcPr/>
                </a:tc>
                <a:tc>
                  <a:txBody>
                    <a:bodyPr/>
                    <a:p>
                      <a:pPr>
                        <a:buNone/>
                      </a:pPr>
                      <a:r>
                        <a:rPr lang="en-US" altLang="en-GB" sz="1400">
                          <a:sym typeface="+mn-ea"/>
                        </a:rPr>
                        <a:t>1 : N</a:t>
                      </a:r>
                      <a:endParaRPr lang="en-GB" altLang="en-US"/>
                    </a:p>
                  </a:txBody>
                  <a:tcPr/>
                </a:tc>
                <a:tc>
                  <a:txBody>
                    <a:bodyPr/>
                    <a:p>
                      <a:pPr>
                        <a:buNone/>
                      </a:pPr>
                      <a:r>
                        <a:rPr lang="en-US" altLang="en-GB"/>
                        <a:t>One track can appear in many invoice lines</a:t>
                      </a:r>
                      <a:endParaRPr lang="en-US" altLang="en-GB"/>
                    </a:p>
                  </a:txBody>
                  <a:tcPr/>
                </a:tc>
              </a:tr>
              <a:tr h="381000">
                <a:tc>
                  <a:txBody>
                    <a:bodyPr/>
                    <a:p>
                      <a:pPr>
                        <a:buNone/>
                      </a:pPr>
                      <a:r>
                        <a:rPr lang="en-US" altLang="en-GB"/>
                        <a:t>Playlist </a:t>
                      </a:r>
                      <a:r>
                        <a:rPr lang="en-US" altLang="en-US"/>
                        <a:t>→</a:t>
                      </a:r>
                      <a:r>
                        <a:rPr lang="en-US" altLang="en-GB"/>
                        <a:t> PlaylistTrack (playlist_id)</a:t>
                      </a:r>
                      <a:endParaRPr lang="en-US" altLang="en-GB"/>
                    </a:p>
                  </a:txBody>
                  <a:tcPr/>
                </a:tc>
                <a:tc>
                  <a:txBody>
                    <a:bodyPr/>
                    <a:p>
                      <a:pPr>
                        <a:buNone/>
                      </a:pPr>
                      <a:r>
                        <a:rPr lang="en-US" altLang="en-GB" sz="1400">
                          <a:sym typeface="+mn-ea"/>
                        </a:rPr>
                        <a:t>1 : N</a:t>
                      </a:r>
                      <a:endParaRPr lang="en-GB" altLang="en-US"/>
                    </a:p>
                  </a:txBody>
                  <a:tcPr/>
                </a:tc>
                <a:tc>
                  <a:txBody>
                    <a:bodyPr/>
                    <a:p>
                      <a:pPr>
                        <a:buNone/>
                      </a:pPr>
                      <a:r>
                        <a:rPr lang="en-US" altLang="en-GB"/>
                        <a:t>One playlist contains many playlist-track records</a:t>
                      </a:r>
                      <a:endParaRPr lang="en-US" altLang="en-GB"/>
                    </a:p>
                  </a:txBody>
                  <a:tcPr/>
                </a:tc>
              </a:tr>
              <a:tr h="381000">
                <a:tc>
                  <a:txBody>
                    <a:bodyPr/>
                    <a:p>
                      <a:pPr>
                        <a:buNone/>
                      </a:pPr>
                      <a:r>
                        <a:rPr lang="en-US" altLang="en-GB"/>
                        <a:t>Track </a:t>
                      </a:r>
                      <a:r>
                        <a:rPr lang="en-US" altLang="en-US"/>
                        <a:t>→</a:t>
                      </a:r>
                      <a:r>
                        <a:rPr lang="en-US" altLang="en-GB"/>
                        <a:t> PlaylistTrack (track_id)</a:t>
                      </a:r>
                      <a:endParaRPr lang="en-US" altLang="en-GB"/>
                    </a:p>
                  </a:txBody>
                  <a:tcPr/>
                </a:tc>
                <a:tc>
                  <a:txBody>
                    <a:bodyPr/>
                    <a:p>
                      <a:pPr>
                        <a:buNone/>
                      </a:pPr>
                      <a:r>
                        <a:rPr lang="en-US" altLang="en-GB" sz="1400">
                          <a:sym typeface="+mn-ea"/>
                        </a:rPr>
                        <a:t>1 : N</a:t>
                      </a:r>
                      <a:endParaRPr lang="en-GB" altLang="en-US"/>
                    </a:p>
                  </a:txBody>
                  <a:tcPr/>
                </a:tc>
                <a:tc>
                  <a:txBody>
                    <a:bodyPr/>
                    <a:p>
                      <a:pPr>
                        <a:buNone/>
                      </a:pPr>
                      <a:r>
                        <a:rPr lang="en-US" altLang="en-GB"/>
                        <a:t>One track can belong to many playlists</a:t>
                      </a:r>
                      <a:endParaRPr lang="en-US" altLang="en-GB"/>
                    </a:p>
                  </a:txBody>
                  <a:tcPr/>
                </a:tc>
              </a:tr>
              <a:tr h="381000">
                <a:tc>
                  <a:txBody>
                    <a:bodyPr/>
                    <a:p>
                      <a:pPr>
                        <a:buNone/>
                      </a:pPr>
                      <a:r>
                        <a:rPr lang="en-US" altLang="en-GB"/>
                        <a:t>Artist </a:t>
                      </a:r>
                      <a:r>
                        <a:rPr lang="en-US" altLang="en-US"/>
                        <a:t>→</a:t>
                      </a:r>
                      <a:r>
                        <a:rPr lang="en-US" altLang="en-GB"/>
                        <a:t> Album (artist_id)</a:t>
                      </a:r>
                      <a:endParaRPr lang="en-US" altLang="en-GB"/>
                    </a:p>
                  </a:txBody>
                  <a:tcPr/>
                </a:tc>
                <a:tc>
                  <a:txBody>
                    <a:bodyPr/>
                    <a:p>
                      <a:pPr>
                        <a:buNone/>
                      </a:pPr>
                      <a:r>
                        <a:rPr lang="en-US" altLang="en-GB" sz="1400">
                          <a:sym typeface="+mn-ea"/>
                        </a:rPr>
                        <a:t>1 : N</a:t>
                      </a:r>
                      <a:endParaRPr lang="en-GB" altLang="en-US"/>
                    </a:p>
                  </a:txBody>
                  <a:tcPr/>
                </a:tc>
                <a:tc>
                  <a:txBody>
                    <a:bodyPr/>
                    <a:p>
                      <a:pPr>
                        <a:buNone/>
                      </a:pPr>
                      <a:r>
                        <a:rPr lang="en-US" altLang="en-GB"/>
                        <a:t>One artist can have many albums</a:t>
                      </a:r>
                      <a:endParaRPr lang="en-US" altLang="en-GB"/>
                    </a:p>
                  </a:txBody>
                  <a:tcPr/>
                </a:tc>
              </a:tr>
              <a:tr h="381000">
                <a:tc>
                  <a:txBody>
                    <a:bodyPr/>
                    <a:p>
                      <a:pPr>
                        <a:buNone/>
                      </a:pPr>
                      <a:r>
                        <a:rPr lang="en-US" altLang="en-GB"/>
                        <a:t>Album </a:t>
                      </a:r>
                      <a:r>
                        <a:rPr lang="en-US" altLang="en-US"/>
                        <a:t>→</a:t>
                      </a:r>
                      <a:r>
                        <a:rPr lang="en-US" altLang="en-GB"/>
                        <a:t> Track (album_id)</a:t>
                      </a:r>
                      <a:endParaRPr lang="en-US" altLang="en-GB"/>
                    </a:p>
                  </a:txBody>
                  <a:tcPr/>
                </a:tc>
                <a:tc>
                  <a:txBody>
                    <a:bodyPr/>
                    <a:p>
                      <a:pPr>
                        <a:buNone/>
                      </a:pPr>
                      <a:r>
                        <a:rPr lang="en-US" altLang="en-GB" sz="1400">
                          <a:sym typeface="+mn-ea"/>
                        </a:rPr>
                        <a:t>1 : N</a:t>
                      </a:r>
                      <a:endParaRPr lang="en-GB" altLang="en-US"/>
                    </a:p>
                  </a:txBody>
                  <a:tcPr/>
                </a:tc>
                <a:tc>
                  <a:txBody>
                    <a:bodyPr/>
                    <a:p>
                      <a:pPr>
                        <a:buNone/>
                      </a:pPr>
                      <a:r>
                        <a:rPr lang="en-US" altLang="en-GB"/>
                        <a:t>One album can contain many tracks</a:t>
                      </a:r>
                      <a:endParaRPr lang="en-US" altLang="en-GB"/>
                    </a:p>
                  </a:txBody>
                  <a:tcPr/>
                </a:tc>
              </a:tr>
              <a:tr h="381000">
                <a:tc>
                  <a:txBody>
                    <a:bodyPr/>
                    <a:p>
                      <a:pPr>
                        <a:buNone/>
                      </a:pPr>
                      <a:r>
                        <a:rPr lang="en-US" altLang="en-GB"/>
                        <a:t>MediaType </a:t>
                      </a:r>
                      <a:r>
                        <a:rPr lang="en-US" altLang="en-US"/>
                        <a:t>→</a:t>
                      </a:r>
                      <a:r>
                        <a:rPr lang="en-US" altLang="en-GB"/>
                        <a:t> Track (media_type_id)</a:t>
                      </a:r>
                      <a:endParaRPr lang="en-US" altLang="en-GB"/>
                    </a:p>
                  </a:txBody>
                  <a:tcPr/>
                </a:tc>
                <a:tc>
                  <a:txBody>
                    <a:bodyPr/>
                    <a:p>
                      <a:pPr>
                        <a:buNone/>
                      </a:pPr>
                      <a:r>
                        <a:rPr lang="en-US" altLang="en-GB" sz="1400">
                          <a:sym typeface="+mn-ea"/>
                        </a:rPr>
                        <a:t>1 : N</a:t>
                      </a:r>
                      <a:endParaRPr lang="en-GB" altLang="en-US"/>
                    </a:p>
                  </a:txBody>
                  <a:tcPr/>
                </a:tc>
                <a:tc>
                  <a:txBody>
                    <a:bodyPr/>
                    <a:p>
                      <a:pPr>
                        <a:buNone/>
                      </a:pPr>
                      <a:r>
                        <a:rPr lang="en-US" altLang="en-GB"/>
                        <a:t>One media type can apply to many tracks</a:t>
                      </a:r>
                      <a:endParaRPr lang="en-US" altLang="en-GB"/>
                    </a:p>
                  </a:txBody>
                  <a:tcPr/>
                </a:tc>
              </a:tr>
              <a:tr h="381000">
                <a:tc>
                  <a:txBody>
                    <a:bodyPr/>
                    <a:p>
                      <a:pPr>
                        <a:buNone/>
                      </a:pPr>
                      <a:r>
                        <a:rPr lang="en-US" altLang="en-GB"/>
                        <a:t>Genre </a:t>
                      </a:r>
                      <a:r>
                        <a:rPr lang="en-US" altLang="en-US"/>
                        <a:t>→</a:t>
                      </a:r>
                      <a:r>
                        <a:rPr lang="en-US" altLang="en-GB"/>
                        <a:t> Track (genre_id)</a:t>
                      </a:r>
                      <a:endParaRPr lang="en-US" altLang="en-GB"/>
                    </a:p>
                  </a:txBody>
                  <a:tcPr/>
                </a:tc>
                <a:tc>
                  <a:txBody>
                    <a:bodyPr/>
                    <a:p>
                      <a:pPr>
                        <a:buNone/>
                      </a:pPr>
                      <a:r>
                        <a:rPr lang="en-US" altLang="en-GB" sz="1400">
                          <a:sym typeface="+mn-ea"/>
                        </a:rPr>
                        <a:t>1 : N</a:t>
                      </a:r>
                      <a:endParaRPr lang="en-GB" altLang="en-US"/>
                    </a:p>
                  </a:txBody>
                  <a:tcPr/>
                </a:tc>
                <a:tc>
                  <a:txBody>
                    <a:bodyPr/>
                    <a:p>
                      <a:pPr>
                        <a:buNone/>
                      </a:pPr>
                      <a:r>
                        <a:rPr lang="en-US" altLang="en-GB"/>
                        <a:t>One genre can contain many tracks</a:t>
                      </a:r>
                      <a:endParaRPr lang="en-US" altLang="en-GB"/>
                    </a:p>
                  </a:txBody>
                  <a:tcPr/>
                </a:tc>
              </a:tr>
            </a:tbl>
          </a:graphicData>
        </a:graphic>
      </p:graphicFrame>
      <p:sp>
        <p:nvSpPr>
          <p:cNvPr id="13" name="Title 1"/>
          <p:cNvSpPr>
            <a:spLocks noGrp="1"/>
          </p:cNvSpPr>
          <p:nvPr/>
        </p:nvSpPr>
        <p:spPr>
          <a:xfrm>
            <a:off x="790575" y="365125"/>
            <a:ext cx="10515600" cy="847855"/>
          </a:xfrm>
          <a:prstGeom prst="rect">
            <a:avLst/>
          </a:prstGeom>
          <a:noFill/>
          <a:ln>
            <a:noFill/>
          </a:ln>
        </p:spPr>
        <p:txBody>
          <a:bodyPr wrap="square" lIns="91425" tIns="45700" rIns="91425" bIns="45700" anchor="ctr" anchorCtr="0">
            <a:norm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1800"/>
              <a:buFont typeface="Calibri" panose="020F0502020204030204"/>
              <a:buNone/>
              <a:defRPr sz="4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r>
              <a:rPr lang="en-IN" sz="2000" b="1" dirty="0" smtClean="0">
                <a:solidFill>
                  <a:srgbClr val="C00000"/>
                </a:solidFill>
              </a:rPr>
              <a:t>2. Cardinalities:</a:t>
            </a:r>
            <a:endParaRPr lang="en-IN" sz="2000" b="1" dirty="0">
              <a:solidFill>
                <a:srgbClr val="C00000"/>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6" name="Table 5"/>
          <p:cNvGraphicFramePr/>
          <p:nvPr>
            <p:custDataLst>
              <p:tags r:id="rId1"/>
            </p:custDataLst>
          </p:nvPr>
        </p:nvGraphicFramePr>
        <p:xfrm>
          <a:off x="464820" y="1007745"/>
          <a:ext cx="11436985" cy="5695315"/>
        </p:xfrm>
        <a:graphic>
          <a:graphicData uri="http://schemas.openxmlformats.org/drawingml/2006/table">
            <a:tbl>
              <a:tblPr firstRow="1" bandRow="1">
                <a:tableStyleId>{F5AB1C69-6EDB-4FF4-983F-18BD219EF322}</a:tableStyleId>
              </a:tblPr>
              <a:tblGrid>
                <a:gridCol w="1332230"/>
                <a:gridCol w="4451350"/>
                <a:gridCol w="5653405"/>
              </a:tblGrid>
              <a:tr h="427355">
                <a:tc>
                  <a:txBody>
                    <a:bodyPr/>
                    <a:p>
                      <a:pPr>
                        <a:buNone/>
                      </a:pPr>
                      <a:r>
                        <a:rPr lang="en-US" altLang="en-GB"/>
                        <a:t>Table Name</a:t>
                      </a:r>
                      <a:endParaRPr lang="en-US" altLang="en-GB"/>
                    </a:p>
                  </a:txBody>
                  <a:tcPr/>
                </a:tc>
                <a:tc>
                  <a:txBody>
                    <a:bodyPr/>
                    <a:p>
                      <a:pPr>
                        <a:buNone/>
                      </a:pPr>
                      <a:r>
                        <a:rPr lang="en-US" altLang="en-GB"/>
                        <a:t>Description</a:t>
                      </a:r>
                      <a:endParaRPr lang="en-US" altLang="en-GB"/>
                    </a:p>
                  </a:txBody>
                  <a:tcPr/>
                </a:tc>
                <a:tc>
                  <a:txBody>
                    <a:bodyPr/>
                    <a:p>
                      <a:pPr>
                        <a:buNone/>
                      </a:pPr>
                      <a:r>
                        <a:rPr lang="en-US" altLang="en-GB"/>
                        <a:t>Columns it Contains</a:t>
                      </a:r>
                      <a:endParaRPr lang="en-US" altLang="en-GB"/>
                    </a:p>
                  </a:txBody>
                  <a:tcPr/>
                </a:tc>
              </a:tr>
              <a:tr h="427355">
                <a:tc>
                  <a:txBody>
                    <a:bodyPr/>
                    <a:p>
                      <a:pPr>
                        <a:buNone/>
                      </a:pPr>
                      <a:r>
                        <a:rPr lang="en-US" altLang="en-GB"/>
                        <a:t>Employee</a:t>
                      </a:r>
                      <a:endParaRPr lang="en-US" altLang="en-GB"/>
                    </a:p>
                  </a:txBody>
                  <a:tcPr/>
                </a:tc>
                <a:tc>
                  <a:txBody>
                    <a:bodyPr/>
                    <a:p>
                      <a:pPr>
                        <a:buNone/>
                      </a:pPr>
                      <a:r>
                        <a:rPr lang="en-US" altLang="en-GB"/>
                        <a:t>Stores employee details, job roles, levels, and reporting relationships.</a:t>
                      </a:r>
                      <a:endParaRPr lang="en-US" altLang="en-GB"/>
                    </a:p>
                  </a:txBody>
                  <a:tcPr/>
                </a:tc>
                <a:tc>
                  <a:txBody>
                    <a:bodyPr/>
                    <a:p>
                      <a:pPr>
                        <a:buNone/>
                      </a:pPr>
                      <a:r>
                        <a:rPr lang="en-US" altLang="en-GB"/>
                        <a:t>employee_id</a:t>
                      </a:r>
                      <a:r>
                        <a:rPr lang="en-IN" altLang="en-US"/>
                        <a:t>,</a:t>
                      </a:r>
                      <a:r>
                        <a:rPr lang="en-US" altLang="en-GB"/>
                        <a:t>last_name</a:t>
                      </a:r>
                      <a:r>
                        <a:rPr lang="en-IN" altLang="en-US"/>
                        <a:t>, </a:t>
                      </a:r>
                      <a:r>
                        <a:rPr lang="en-US" altLang="en-GB"/>
                        <a:t>first_name</a:t>
                      </a:r>
                      <a:r>
                        <a:rPr lang="en-IN" altLang="en-US"/>
                        <a:t>, </a:t>
                      </a:r>
                      <a:r>
                        <a:rPr lang="en-US" altLang="en-GB"/>
                        <a:t>title</a:t>
                      </a:r>
                      <a:r>
                        <a:rPr lang="en-IN" altLang="en-US"/>
                        <a:t>, </a:t>
                      </a:r>
                      <a:r>
                        <a:rPr lang="en-US" altLang="en-GB"/>
                        <a:t>reports_to</a:t>
                      </a:r>
                      <a:r>
                        <a:rPr lang="en-IN" altLang="en-US"/>
                        <a:t>, </a:t>
                      </a:r>
                      <a:r>
                        <a:rPr lang="en-US" altLang="en-GB"/>
                        <a:t>birthdate</a:t>
                      </a:r>
                      <a:r>
                        <a:rPr lang="en-IN" altLang="en-US"/>
                        <a:t>, </a:t>
                      </a:r>
                      <a:r>
                        <a:rPr lang="en-US" altLang="en-GB"/>
                        <a:t>hire_date</a:t>
                      </a:r>
                      <a:r>
                        <a:rPr lang="en-IN" altLang="en-US"/>
                        <a:t>, </a:t>
                      </a:r>
                      <a:r>
                        <a:rPr lang="en-US" altLang="en-GB"/>
                        <a:t>address</a:t>
                      </a:r>
                      <a:r>
                        <a:rPr lang="en-IN" altLang="en-US"/>
                        <a:t>, </a:t>
                      </a:r>
                      <a:r>
                        <a:rPr lang="en-US" altLang="en-GB"/>
                        <a:t>city</a:t>
                      </a:r>
                      <a:r>
                        <a:rPr lang="en-IN" altLang="en-US"/>
                        <a:t>, </a:t>
                      </a:r>
                      <a:r>
                        <a:rPr lang="en-US" altLang="en-GB"/>
                        <a:t>state</a:t>
                      </a:r>
                      <a:r>
                        <a:rPr lang="en-IN" altLang="en-US"/>
                        <a:t>, </a:t>
                      </a:r>
                      <a:r>
                        <a:rPr lang="en-US" altLang="en-GB"/>
                        <a:t>country</a:t>
                      </a:r>
                      <a:r>
                        <a:rPr lang="en-IN" altLang="en-US"/>
                        <a:t>, </a:t>
                      </a:r>
                      <a:r>
                        <a:rPr lang="en-US" altLang="en-GB"/>
                        <a:t>postal_code</a:t>
                      </a:r>
                      <a:r>
                        <a:rPr lang="en-IN" altLang="en-US"/>
                        <a:t>, </a:t>
                      </a:r>
                      <a:r>
                        <a:rPr lang="en-US" altLang="en-GB"/>
                        <a:t>phone</a:t>
                      </a:r>
                      <a:r>
                        <a:rPr lang="en-IN" altLang="en-US"/>
                        <a:t>, </a:t>
                      </a:r>
                      <a:r>
                        <a:rPr lang="en-US" altLang="en-GB"/>
                        <a:t>fax</a:t>
                      </a:r>
                      <a:r>
                        <a:rPr lang="en-IN" altLang="en-US"/>
                        <a:t>, </a:t>
                      </a:r>
                      <a:r>
                        <a:rPr lang="en-US" altLang="en-GB"/>
                        <a:t>emai</a:t>
                      </a:r>
                      <a:r>
                        <a:rPr lang="en-IN" altLang="en-US"/>
                        <a:t>l</a:t>
                      </a:r>
                      <a:endParaRPr lang="en-IN" altLang="en-US"/>
                    </a:p>
                  </a:txBody>
                  <a:tcPr/>
                </a:tc>
              </a:tr>
              <a:tr h="427355">
                <a:tc>
                  <a:txBody>
                    <a:bodyPr/>
                    <a:p>
                      <a:pPr>
                        <a:buNone/>
                      </a:pPr>
                      <a:r>
                        <a:rPr lang="en-US" altLang="en-GB"/>
                        <a:t>Customer</a:t>
                      </a:r>
                      <a:endParaRPr lang="en-US" altLang="en-GB"/>
                    </a:p>
                  </a:txBody>
                  <a:tcPr/>
                </a:tc>
                <a:tc>
                  <a:txBody>
                    <a:bodyPr/>
                    <a:p>
                      <a:pPr>
                        <a:buNone/>
                      </a:pPr>
                      <a:r>
                        <a:rPr lang="en-US" altLang="en-GB"/>
                        <a:t>Stores customer information and assigned support representative.</a:t>
                      </a:r>
                      <a:endParaRPr lang="en-US" altLang="en-GB"/>
                    </a:p>
                  </a:txBody>
                  <a:tcPr/>
                </a:tc>
                <a:tc>
                  <a:txBody>
                    <a:bodyPr/>
                    <a:p>
                      <a:pPr>
                        <a:buNone/>
                      </a:pPr>
                      <a:r>
                        <a:rPr lang="en-US" altLang="en-GB"/>
                        <a:t>customer_id</a:t>
                      </a:r>
                      <a:r>
                        <a:rPr lang="en-IN" altLang="en-US"/>
                        <a:t>, </a:t>
                      </a:r>
                      <a:r>
                        <a:rPr lang="en-US" altLang="en-GB"/>
                        <a:t>first_name</a:t>
                      </a:r>
                      <a:r>
                        <a:rPr lang="en-IN" altLang="en-US"/>
                        <a:t>, </a:t>
                      </a:r>
                      <a:r>
                        <a:rPr lang="en-US" altLang="en-GB"/>
                        <a:t>last_name</a:t>
                      </a:r>
                      <a:r>
                        <a:rPr lang="en-IN" altLang="en-US"/>
                        <a:t>, </a:t>
                      </a:r>
                      <a:r>
                        <a:rPr lang="en-US" altLang="en-GB"/>
                        <a:t>company</a:t>
                      </a:r>
                      <a:r>
                        <a:rPr lang="en-IN" altLang="en-US"/>
                        <a:t>, </a:t>
                      </a:r>
                      <a:r>
                        <a:rPr lang="en-US" altLang="en-GB"/>
                        <a:t>address</a:t>
                      </a:r>
                      <a:r>
                        <a:rPr lang="en-IN" altLang="en-US"/>
                        <a:t>, </a:t>
                      </a:r>
                      <a:r>
                        <a:rPr lang="en-US" altLang="en-GB"/>
                        <a:t>city</a:t>
                      </a:r>
                      <a:r>
                        <a:rPr lang="en-IN" altLang="en-US"/>
                        <a:t>, </a:t>
                      </a:r>
                      <a:r>
                        <a:rPr lang="en-US" altLang="en-GB"/>
                        <a:t>state</a:t>
                      </a:r>
                      <a:r>
                        <a:rPr lang="en-IN" altLang="en-US"/>
                        <a:t>, </a:t>
                      </a:r>
                      <a:r>
                        <a:rPr lang="en-US" altLang="en-GB"/>
                        <a:t>country</a:t>
                      </a:r>
                      <a:r>
                        <a:rPr lang="en-IN" altLang="en-US"/>
                        <a:t>, </a:t>
                      </a:r>
                      <a:r>
                        <a:rPr lang="en-US" altLang="en-GB"/>
                        <a:t>postal_code</a:t>
                      </a:r>
                      <a:r>
                        <a:rPr lang="en-IN" altLang="en-US"/>
                        <a:t>, </a:t>
                      </a:r>
                      <a:r>
                        <a:rPr lang="en-US" altLang="en-GB"/>
                        <a:t>phone</a:t>
                      </a:r>
                      <a:r>
                        <a:rPr lang="en-IN" altLang="en-US"/>
                        <a:t>, </a:t>
                      </a:r>
                      <a:r>
                        <a:rPr lang="en-US" altLang="en-GB"/>
                        <a:t>fax</a:t>
                      </a:r>
                      <a:r>
                        <a:rPr lang="en-IN" altLang="en-US"/>
                        <a:t>, </a:t>
                      </a:r>
                      <a:r>
                        <a:rPr lang="en-US" altLang="en-GB"/>
                        <a:t>email</a:t>
                      </a:r>
                      <a:r>
                        <a:rPr lang="en-IN" altLang="en-US"/>
                        <a:t>,</a:t>
                      </a:r>
                      <a:r>
                        <a:rPr lang="en-US" altLang="en-GB"/>
                        <a:t>support_rep_id</a:t>
                      </a:r>
                      <a:endParaRPr lang="en-US" altLang="en-GB"/>
                    </a:p>
                  </a:txBody>
                  <a:tcPr/>
                </a:tc>
              </a:tr>
              <a:tr h="427355">
                <a:tc>
                  <a:txBody>
                    <a:bodyPr/>
                    <a:p>
                      <a:pPr>
                        <a:buNone/>
                      </a:pPr>
                      <a:r>
                        <a:rPr lang="en-US" altLang="en-GB"/>
                        <a:t>Invoice</a:t>
                      </a:r>
                      <a:endParaRPr lang="en-US" altLang="en-GB"/>
                    </a:p>
                  </a:txBody>
                  <a:tcPr/>
                </a:tc>
                <a:tc>
                  <a:txBody>
                    <a:bodyPr/>
                    <a:p>
                      <a:pPr>
                        <a:buNone/>
                      </a:pPr>
                      <a:r>
                        <a:rPr lang="en-US" altLang="en-GB"/>
                        <a:t>Records customer transactions, billing details, dates, and purchase totals.</a:t>
                      </a:r>
                      <a:endParaRPr lang="en-US" altLang="en-GB"/>
                    </a:p>
                  </a:txBody>
                  <a:tcPr/>
                </a:tc>
                <a:tc>
                  <a:txBody>
                    <a:bodyPr/>
                    <a:p>
                      <a:pPr>
                        <a:buNone/>
                      </a:pPr>
                      <a:r>
                        <a:rPr lang="en-US" altLang="en-GB"/>
                        <a:t>invoice_id</a:t>
                      </a:r>
                      <a:r>
                        <a:rPr lang="en-IN" altLang="en-US"/>
                        <a:t>, </a:t>
                      </a:r>
                      <a:r>
                        <a:rPr lang="en-US" altLang="en-GB"/>
                        <a:t>customer_id</a:t>
                      </a:r>
                      <a:r>
                        <a:rPr lang="en-IN" altLang="en-US"/>
                        <a:t>, </a:t>
                      </a:r>
                      <a:r>
                        <a:rPr lang="en-US" altLang="en-GB"/>
                        <a:t>invoice_date</a:t>
                      </a:r>
                      <a:r>
                        <a:rPr lang="en-IN" altLang="en-US"/>
                        <a:t>, </a:t>
                      </a:r>
                      <a:r>
                        <a:rPr lang="en-US" altLang="en-GB"/>
                        <a:t>billing_address</a:t>
                      </a:r>
                      <a:r>
                        <a:rPr lang="en-IN" altLang="en-US"/>
                        <a:t>, </a:t>
                      </a:r>
                      <a:r>
                        <a:rPr lang="en-US" altLang="en-GB"/>
                        <a:t>billing_city</a:t>
                      </a:r>
                      <a:r>
                        <a:rPr lang="en-IN" altLang="en-US"/>
                        <a:t>, </a:t>
                      </a:r>
                      <a:r>
                        <a:rPr lang="en-US" altLang="en-GB"/>
                        <a:t>billing_state</a:t>
                      </a:r>
                      <a:r>
                        <a:rPr lang="en-IN" altLang="en-US"/>
                        <a:t>, </a:t>
                      </a:r>
                      <a:r>
                        <a:rPr lang="en-US" altLang="en-GB"/>
                        <a:t>billing_country</a:t>
                      </a:r>
                      <a:r>
                        <a:rPr lang="en-IN" altLang="en-US"/>
                        <a:t>, </a:t>
                      </a:r>
                      <a:r>
                        <a:rPr lang="en-US" altLang="en-GB"/>
                        <a:t>billing_postal_code</a:t>
                      </a:r>
                      <a:r>
                        <a:rPr lang="en-IN" altLang="en-US"/>
                        <a:t>, </a:t>
                      </a:r>
                      <a:r>
                        <a:rPr lang="en-US" altLang="en-GB"/>
                        <a:t>total</a:t>
                      </a:r>
                      <a:endParaRPr lang="en-US" altLang="en-GB"/>
                    </a:p>
                  </a:txBody>
                  <a:tcPr/>
                </a:tc>
              </a:tr>
              <a:tr h="427355">
                <a:tc>
                  <a:txBody>
                    <a:bodyPr/>
                    <a:p>
                      <a:pPr>
                        <a:buNone/>
                      </a:pPr>
                      <a:r>
                        <a:rPr lang="en-US" altLang="en-GB"/>
                        <a:t>InvoiceLine</a:t>
                      </a:r>
                      <a:endParaRPr lang="en-US" altLang="en-GB"/>
                    </a:p>
                  </a:txBody>
                  <a:tcPr/>
                </a:tc>
                <a:tc>
                  <a:txBody>
                    <a:bodyPr/>
                    <a:p>
                      <a:pPr>
                        <a:buNone/>
                      </a:pPr>
                      <a:r>
                        <a:rPr lang="en-US" altLang="en-GB"/>
                        <a:t>Stores individual tracks purchased within each invoice.</a:t>
                      </a:r>
                      <a:endParaRPr lang="en-US" altLang="en-GB"/>
                    </a:p>
                  </a:txBody>
                  <a:tcPr/>
                </a:tc>
                <a:tc>
                  <a:txBody>
                    <a:bodyPr/>
                    <a:p>
                      <a:pPr>
                        <a:buNone/>
                      </a:pPr>
                      <a:r>
                        <a:rPr lang="en-US" altLang="en-GB"/>
                        <a:t>invoice_line_id</a:t>
                      </a:r>
                      <a:r>
                        <a:rPr lang="en-IN" altLang="en-US"/>
                        <a:t>, </a:t>
                      </a:r>
                      <a:r>
                        <a:rPr lang="en-US" altLang="en-GB"/>
                        <a:t>invoice_id</a:t>
                      </a:r>
                      <a:r>
                        <a:rPr lang="en-IN" altLang="en-US"/>
                        <a:t>, </a:t>
                      </a:r>
                      <a:r>
                        <a:rPr lang="en-US" altLang="en-GB"/>
                        <a:t>track_id</a:t>
                      </a:r>
                      <a:r>
                        <a:rPr lang="en-IN" altLang="en-US"/>
                        <a:t>, </a:t>
                      </a:r>
                      <a:r>
                        <a:rPr lang="en-US" altLang="en-GB"/>
                        <a:t>unit_price</a:t>
                      </a:r>
                      <a:r>
                        <a:rPr lang="en-IN" altLang="en-US"/>
                        <a:t>, </a:t>
                      </a:r>
                      <a:r>
                        <a:rPr lang="en-US" altLang="en-GB"/>
                        <a:t>quantit</a:t>
                      </a:r>
                      <a:r>
                        <a:rPr lang="en-IN" altLang="en-US"/>
                        <a:t>y</a:t>
                      </a:r>
                      <a:endParaRPr lang="en-IN" altLang="en-US"/>
                    </a:p>
                  </a:txBody>
                  <a:tcPr/>
                </a:tc>
              </a:tr>
              <a:tr h="427355">
                <a:tc>
                  <a:txBody>
                    <a:bodyPr/>
                    <a:p>
                      <a:pPr>
                        <a:buNone/>
                      </a:pPr>
                      <a:r>
                        <a:rPr lang="en-US" altLang="en-GB"/>
                        <a:t>Track</a:t>
                      </a:r>
                      <a:endParaRPr lang="en-US" altLang="en-GB"/>
                    </a:p>
                  </a:txBody>
                  <a:tcPr/>
                </a:tc>
                <a:tc>
                  <a:txBody>
                    <a:bodyPr/>
                    <a:p>
                      <a:pPr>
                        <a:buNone/>
                      </a:pPr>
                      <a:r>
                        <a:rPr lang="en-US" altLang="en-GB"/>
                        <a:t>Stores individual music tracks and their associated metadata.</a:t>
                      </a:r>
                      <a:endParaRPr lang="en-US" altLang="en-GB"/>
                    </a:p>
                  </a:txBody>
                  <a:tcPr/>
                </a:tc>
                <a:tc>
                  <a:txBody>
                    <a:bodyPr/>
                    <a:p>
                      <a:pPr>
                        <a:buNone/>
                      </a:pPr>
                      <a:r>
                        <a:rPr lang="en-US" altLang="en-GB"/>
                        <a:t>track_id</a:t>
                      </a:r>
                      <a:r>
                        <a:rPr lang="en-IN" altLang="en-US"/>
                        <a:t>, </a:t>
                      </a:r>
                      <a:r>
                        <a:rPr lang="en-US" altLang="en-GB"/>
                        <a:t>name</a:t>
                      </a:r>
                      <a:r>
                        <a:rPr lang="en-IN" altLang="en-US"/>
                        <a:t>, </a:t>
                      </a:r>
                      <a:r>
                        <a:rPr lang="en-US" altLang="en-GB"/>
                        <a:t>album_id</a:t>
                      </a:r>
                      <a:r>
                        <a:rPr lang="en-IN" altLang="en-US"/>
                        <a:t>, </a:t>
                      </a:r>
                      <a:r>
                        <a:rPr lang="en-US" altLang="en-GB"/>
                        <a:t>media_type_id</a:t>
                      </a:r>
                      <a:r>
                        <a:rPr lang="en-IN" altLang="en-US"/>
                        <a:t>, </a:t>
                      </a:r>
                      <a:r>
                        <a:rPr lang="en-US" altLang="en-GB"/>
                        <a:t>genre_id</a:t>
                      </a:r>
                      <a:r>
                        <a:rPr lang="en-IN" altLang="en-US"/>
                        <a:t>, </a:t>
                      </a:r>
                      <a:r>
                        <a:rPr lang="en-US" altLang="en-GB"/>
                        <a:t>composer</a:t>
                      </a:r>
                      <a:r>
                        <a:rPr lang="en-IN" altLang="en-US"/>
                        <a:t>, </a:t>
                      </a:r>
                      <a:r>
                        <a:rPr lang="en-US" altLang="en-GB"/>
                        <a:t>milliseconds</a:t>
                      </a:r>
                      <a:r>
                        <a:rPr lang="en-IN" altLang="en-US"/>
                        <a:t>, </a:t>
                      </a:r>
                      <a:r>
                        <a:rPr lang="en-US" altLang="en-GB"/>
                        <a:t>bytes</a:t>
                      </a:r>
                      <a:r>
                        <a:rPr lang="en-IN" altLang="en-US"/>
                        <a:t>, </a:t>
                      </a:r>
                      <a:r>
                        <a:rPr lang="en-US" altLang="en-GB"/>
                        <a:t>unit_price</a:t>
                      </a:r>
                      <a:endParaRPr lang="en-US" altLang="en-GB"/>
                    </a:p>
                  </a:txBody>
                  <a:tcPr/>
                </a:tc>
              </a:tr>
              <a:tr h="427355">
                <a:tc>
                  <a:txBody>
                    <a:bodyPr/>
                    <a:p>
                      <a:pPr>
                        <a:buNone/>
                      </a:pPr>
                      <a:r>
                        <a:rPr lang="en-US" altLang="en-GB"/>
                        <a:t>Artist</a:t>
                      </a:r>
                      <a:endParaRPr lang="en-US" altLang="en-GB"/>
                    </a:p>
                  </a:txBody>
                  <a:tcPr/>
                </a:tc>
                <a:tc>
                  <a:txBody>
                    <a:bodyPr/>
                    <a:p>
                      <a:pPr>
                        <a:buNone/>
                      </a:pPr>
                      <a:r>
                        <a:rPr lang="en-US" altLang="en-GB"/>
                        <a:t>Stores information about music artists.</a:t>
                      </a:r>
                      <a:endParaRPr lang="en-US" altLang="en-GB"/>
                    </a:p>
                  </a:txBody>
                  <a:tcPr/>
                </a:tc>
                <a:tc>
                  <a:txBody>
                    <a:bodyPr/>
                    <a:p>
                      <a:pPr>
                        <a:buNone/>
                      </a:pPr>
                      <a:r>
                        <a:rPr lang="en-US" altLang="en-GB"/>
                        <a:t>artist_id</a:t>
                      </a:r>
                      <a:r>
                        <a:rPr lang="en-IN" altLang="en-US"/>
                        <a:t>, </a:t>
                      </a:r>
                      <a:r>
                        <a:rPr lang="en-US" altLang="en-GB"/>
                        <a:t>name</a:t>
                      </a:r>
                      <a:endParaRPr lang="en-US" altLang="en-GB"/>
                    </a:p>
                  </a:txBody>
                  <a:tcPr/>
                </a:tc>
              </a:tr>
              <a:tr h="427355">
                <a:tc>
                  <a:txBody>
                    <a:bodyPr/>
                    <a:p>
                      <a:pPr>
                        <a:buNone/>
                      </a:pPr>
                      <a:r>
                        <a:rPr lang="en-US" altLang="en-GB"/>
                        <a:t>Album</a:t>
                      </a:r>
                      <a:endParaRPr lang="en-US" altLang="en-GB"/>
                    </a:p>
                  </a:txBody>
                  <a:tcPr/>
                </a:tc>
                <a:tc>
                  <a:txBody>
                    <a:bodyPr/>
                    <a:p>
                      <a:pPr>
                        <a:buNone/>
                      </a:pPr>
                      <a:r>
                        <a:rPr lang="en-US" altLang="en-GB"/>
                        <a:t>Stores album information and its associated artist.</a:t>
                      </a:r>
                      <a:endParaRPr lang="en-US" altLang="en-GB"/>
                    </a:p>
                  </a:txBody>
                  <a:tcPr/>
                </a:tc>
                <a:tc>
                  <a:txBody>
                    <a:bodyPr/>
                    <a:p>
                      <a:pPr>
                        <a:buNone/>
                      </a:pPr>
                      <a:r>
                        <a:rPr lang="en-US" altLang="en-GB"/>
                        <a:t>album_id</a:t>
                      </a:r>
                      <a:r>
                        <a:rPr lang="en-IN" altLang="en-US"/>
                        <a:t>, </a:t>
                      </a:r>
                      <a:r>
                        <a:rPr lang="en-US" altLang="en-GB"/>
                        <a:t>title</a:t>
                      </a:r>
                      <a:r>
                        <a:rPr lang="en-IN" altLang="en-US"/>
                        <a:t>, </a:t>
                      </a:r>
                      <a:r>
                        <a:rPr lang="en-US" altLang="en-GB"/>
                        <a:t>artist_id</a:t>
                      </a:r>
                      <a:endParaRPr lang="en-US" altLang="en-GB"/>
                    </a:p>
                  </a:txBody>
                  <a:tcPr/>
                </a:tc>
              </a:tr>
              <a:tr h="427355">
                <a:tc>
                  <a:txBody>
                    <a:bodyPr/>
                    <a:p>
                      <a:pPr>
                        <a:buNone/>
                      </a:pPr>
                      <a:r>
                        <a:rPr lang="en-US" altLang="en-GB"/>
                        <a:t>Genre</a:t>
                      </a:r>
                      <a:endParaRPr lang="en-US" altLang="en-GB"/>
                    </a:p>
                  </a:txBody>
                  <a:tcPr/>
                </a:tc>
                <a:tc>
                  <a:txBody>
                    <a:bodyPr/>
                    <a:p>
                      <a:pPr>
                        <a:buNone/>
                      </a:pPr>
                      <a:r>
                        <a:rPr lang="en-US" altLang="en-GB"/>
                        <a:t>Stores available music genre categories.</a:t>
                      </a:r>
                      <a:endParaRPr lang="en-US" altLang="en-GB"/>
                    </a:p>
                  </a:txBody>
                  <a:tcPr/>
                </a:tc>
                <a:tc>
                  <a:txBody>
                    <a:bodyPr/>
                    <a:p>
                      <a:pPr>
                        <a:buNone/>
                      </a:pPr>
                      <a:r>
                        <a:rPr lang="en-US" altLang="en-GB"/>
                        <a:t>genre_id</a:t>
                      </a:r>
                      <a:r>
                        <a:rPr lang="en-IN" altLang="en-US"/>
                        <a:t>, </a:t>
                      </a:r>
                      <a:r>
                        <a:rPr lang="en-US" altLang="en-GB"/>
                        <a:t>name</a:t>
                      </a:r>
                      <a:endParaRPr lang="en-US" altLang="en-GB"/>
                    </a:p>
                  </a:txBody>
                  <a:tcPr/>
                </a:tc>
              </a:tr>
              <a:tr h="427355">
                <a:tc>
                  <a:txBody>
                    <a:bodyPr/>
                    <a:p>
                      <a:pPr>
                        <a:buNone/>
                      </a:pPr>
                      <a:r>
                        <a:rPr lang="en-US" altLang="en-GB"/>
                        <a:t>MediaType</a:t>
                      </a:r>
                      <a:endParaRPr lang="en-US" altLang="en-GB"/>
                    </a:p>
                  </a:txBody>
                  <a:tcPr/>
                </a:tc>
                <a:tc>
                  <a:txBody>
                    <a:bodyPr/>
                    <a:p>
                      <a:pPr>
                        <a:buNone/>
                      </a:pPr>
                      <a:r>
                        <a:rPr lang="en-US" altLang="en-GB"/>
                        <a:t>Stores the media types associated with tracks.</a:t>
                      </a:r>
                      <a:endParaRPr lang="en-US" altLang="en-GB"/>
                    </a:p>
                  </a:txBody>
                  <a:tcPr/>
                </a:tc>
                <a:tc>
                  <a:txBody>
                    <a:bodyPr/>
                    <a:p>
                      <a:pPr>
                        <a:buNone/>
                      </a:pPr>
                      <a:r>
                        <a:rPr lang="en-US" altLang="en-GB"/>
                        <a:t>media_type_id</a:t>
                      </a:r>
                      <a:r>
                        <a:rPr lang="en-IN" altLang="en-US"/>
                        <a:t>, </a:t>
                      </a:r>
                      <a:r>
                        <a:rPr lang="en-US" altLang="en-GB"/>
                        <a:t>name</a:t>
                      </a:r>
                      <a:endParaRPr lang="en-US" altLang="en-GB"/>
                    </a:p>
                  </a:txBody>
                  <a:tcPr/>
                </a:tc>
              </a:tr>
              <a:tr h="427355">
                <a:tc>
                  <a:txBody>
                    <a:bodyPr/>
                    <a:p>
                      <a:pPr>
                        <a:buNone/>
                      </a:pPr>
                      <a:r>
                        <a:rPr lang="en-US" altLang="en-GB"/>
                        <a:t>Playlist</a:t>
                      </a:r>
                      <a:endParaRPr lang="en-US" altLang="en-GB"/>
                    </a:p>
                  </a:txBody>
                  <a:tcPr/>
                </a:tc>
                <a:tc>
                  <a:txBody>
                    <a:bodyPr/>
                    <a:p>
                      <a:pPr>
                        <a:buNone/>
                      </a:pPr>
                      <a:r>
                        <a:rPr lang="en-US" altLang="en-GB"/>
                        <a:t>Stores playlist information.</a:t>
                      </a:r>
                      <a:endParaRPr lang="en-US" altLang="en-GB"/>
                    </a:p>
                  </a:txBody>
                  <a:tcPr/>
                </a:tc>
                <a:tc>
                  <a:txBody>
                    <a:bodyPr/>
                    <a:p>
                      <a:pPr>
                        <a:buNone/>
                      </a:pPr>
                      <a:r>
                        <a:rPr lang="en-US" altLang="en-GB"/>
                        <a:t>playlist_id</a:t>
                      </a:r>
                      <a:r>
                        <a:rPr lang="en-IN" altLang="en-US"/>
                        <a:t>, </a:t>
                      </a:r>
                      <a:r>
                        <a:rPr lang="en-US" altLang="en-GB"/>
                        <a:t>name</a:t>
                      </a:r>
                      <a:endParaRPr lang="en-US" altLang="en-GB"/>
                    </a:p>
                  </a:txBody>
                  <a:tcPr/>
                </a:tc>
              </a:tr>
              <a:tr h="417830">
                <a:tc>
                  <a:txBody>
                    <a:bodyPr/>
                    <a:p>
                      <a:pPr>
                        <a:buNone/>
                      </a:pPr>
                      <a:r>
                        <a:rPr lang="en-US" altLang="en-GB"/>
                        <a:t>PlaylistTrack</a:t>
                      </a:r>
                      <a:endParaRPr lang="en-US" altLang="en-GB"/>
                    </a:p>
                  </a:txBody>
                  <a:tcPr/>
                </a:tc>
                <a:tc>
                  <a:txBody>
                    <a:bodyPr/>
                    <a:p>
                      <a:pPr>
                        <a:buNone/>
                      </a:pPr>
                      <a:r>
                        <a:rPr lang="en-US" altLang="en-GB"/>
                        <a:t>Connects playlists with their associated tracks.</a:t>
                      </a:r>
                      <a:endParaRPr lang="en-US" altLang="en-GB"/>
                    </a:p>
                  </a:txBody>
                  <a:tcPr/>
                </a:tc>
                <a:tc>
                  <a:txBody>
                    <a:bodyPr/>
                    <a:p>
                      <a:pPr>
                        <a:buNone/>
                      </a:pPr>
                      <a:r>
                        <a:rPr lang="en-US" altLang="en-GB"/>
                        <a:t>playlist_id</a:t>
                      </a:r>
                      <a:r>
                        <a:rPr lang="en-IN" altLang="en-US"/>
                        <a:t>, </a:t>
                      </a:r>
                      <a:r>
                        <a:rPr lang="en-US" altLang="en-GB"/>
                        <a:t>track_id</a:t>
                      </a:r>
                      <a:endParaRPr lang="en-US" altLang="en-GB"/>
                    </a:p>
                  </a:txBody>
                  <a:tcPr/>
                </a:tc>
              </a:tr>
            </a:tbl>
          </a:graphicData>
        </a:graphic>
      </p:graphicFrame>
      <p:sp>
        <p:nvSpPr>
          <p:cNvPr id="11" name="Text Box 10"/>
          <p:cNvSpPr txBox="1"/>
          <p:nvPr/>
        </p:nvSpPr>
        <p:spPr>
          <a:xfrm>
            <a:off x="464820" y="398145"/>
            <a:ext cx="6096000" cy="398780"/>
          </a:xfrm>
          <a:prstGeom prst="rect">
            <a:avLst/>
          </a:prstGeom>
          <a:noFill/>
        </p:spPr>
        <p:txBody>
          <a:bodyPr wrap="square" rtlCol="0" anchor="t">
            <a:spAutoFit/>
          </a:bodyPr>
          <a:p>
            <a:r>
              <a:rPr lang="en-IN" altLang="en-US" sz="2000" b="1" dirty="0" smtClean="0">
                <a:solidFill>
                  <a:srgbClr val="C00000"/>
                </a:solidFill>
                <a:sym typeface="+mn-ea"/>
              </a:rPr>
              <a:t>3. </a:t>
            </a:r>
            <a:r>
              <a:rPr lang="en-US" altLang="en-GB" sz="2000" b="1" dirty="0" smtClean="0">
                <a:solidFill>
                  <a:srgbClr val="C00000"/>
                </a:solidFill>
                <a:sym typeface="+mn-ea"/>
              </a:rPr>
              <a:t>Database Schema Overview</a:t>
            </a:r>
            <a:r>
              <a:rPr lang="en-IN" sz="2000" b="1" dirty="0" smtClean="0">
                <a:solidFill>
                  <a:srgbClr val="C00000"/>
                </a:solidFill>
                <a:sym typeface="+mn-ea"/>
              </a:rPr>
              <a:t>:</a:t>
            </a:r>
            <a:endParaRPr lang="en-IN" altLang="en-US" sz="2000" b="1" dirty="0" smtClean="0">
              <a:solidFill>
                <a:srgbClr val="C00000"/>
              </a:solidFill>
              <a:sym typeface="+mn-ea"/>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ext Box 3"/>
          <p:cNvSpPr txBox="1"/>
          <p:nvPr/>
        </p:nvSpPr>
        <p:spPr>
          <a:xfrm>
            <a:off x="868680" y="581025"/>
            <a:ext cx="6096000" cy="583565"/>
          </a:xfrm>
          <a:prstGeom prst="rect">
            <a:avLst/>
          </a:prstGeom>
          <a:noFill/>
        </p:spPr>
        <p:txBody>
          <a:bodyPr wrap="square" rtlCol="0" anchor="t">
            <a:spAutoFit/>
          </a:bodyPr>
          <a:p>
            <a:r>
              <a:rPr lang="en-IN" sz="3200" b="1" dirty="0" smtClean="0">
                <a:solidFill>
                  <a:srgbClr val="C00000"/>
                </a:solidFill>
                <a:sym typeface="+mn-ea"/>
              </a:rPr>
              <a:t>Key Analysis Questions:</a:t>
            </a:r>
            <a:endParaRPr lang="en-IN" altLang="en-US" sz="3200" b="1" dirty="0" smtClean="0">
              <a:solidFill>
                <a:srgbClr val="C00000"/>
              </a:solidFill>
              <a:sym typeface="+mn-ea"/>
            </a:endParaRPr>
          </a:p>
        </p:txBody>
      </p:sp>
      <p:sp>
        <p:nvSpPr>
          <p:cNvPr id="2" name="Text Box 1"/>
          <p:cNvSpPr txBox="1"/>
          <p:nvPr/>
        </p:nvSpPr>
        <p:spPr>
          <a:xfrm>
            <a:off x="868680" y="1346200"/>
            <a:ext cx="6096000" cy="368300"/>
          </a:xfrm>
          <a:prstGeom prst="rect">
            <a:avLst/>
          </a:prstGeom>
          <a:noFill/>
        </p:spPr>
        <p:txBody>
          <a:bodyPr wrap="square" rtlCol="0" anchor="t">
            <a:spAutoFit/>
          </a:bodyPr>
          <a:p>
            <a:r>
              <a:rPr lang="en-US" altLang="en-GB" sz="1800" b="1">
                <a:solidFill>
                  <a:srgbClr val="C00000"/>
                </a:solidFill>
              </a:rPr>
              <a:t>1. Who is the senior most employee based on job title? </a:t>
            </a:r>
            <a:r>
              <a:rPr lang="en-US" altLang="en-GB" sz="1800" b="1"/>
              <a:t> </a:t>
            </a:r>
            <a:endParaRPr lang="en-GB" altLang="en-US" sz="1800" b="1"/>
          </a:p>
        </p:txBody>
      </p:sp>
      <p:sp>
        <p:nvSpPr>
          <p:cNvPr id="3" name="Text Box 2"/>
          <p:cNvSpPr txBox="1"/>
          <p:nvPr/>
        </p:nvSpPr>
        <p:spPr>
          <a:xfrm>
            <a:off x="984250" y="1903095"/>
            <a:ext cx="6096000" cy="2061210"/>
          </a:xfrm>
          <a:prstGeom prst="rect">
            <a:avLst/>
          </a:prstGeom>
          <a:noFill/>
          <a:ln w="12700">
            <a:solidFill>
              <a:schemeClr val="tx1"/>
            </a:solidFill>
          </a:ln>
        </p:spPr>
        <p:txBody>
          <a:bodyPr wrap="square" rtlCol="0" anchor="t">
            <a:spAutoFit/>
          </a:bodyPr>
          <a:p>
            <a:r>
              <a:rPr lang="en-US" altLang="en-GB" sz="1600"/>
              <a:t>SELECT </a:t>
            </a:r>
            <a:endParaRPr lang="en-US" altLang="en-GB" sz="1600"/>
          </a:p>
          <a:p>
            <a:pPr indent="457200"/>
            <a:r>
              <a:rPr lang="en-US" altLang="en-GB" sz="1600"/>
              <a:t>employee_id,</a:t>
            </a:r>
            <a:endParaRPr lang="en-US" altLang="en-GB" sz="1600"/>
          </a:p>
          <a:p>
            <a:pPr indent="457200"/>
            <a:r>
              <a:rPr lang="en-US" altLang="en-GB" sz="1600"/>
              <a:t>CONCAT(first_name, ' ', last_name) AS employee_name,</a:t>
            </a:r>
            <a:endParaRPr lang="en-US" altLang="en-GB" sz="1600"/>
          </a:p>
          <a:p>
            <a:pPr indent="457200"/>
            <a:r>
              <a:rPr lang="en-US" altLang="en-GB" sz="1600"/>
              <a:t>title,</a:t>
            </a:r>
            <a:endParaRPr lang="en-US" altLang="en-GB" sz="1600"/>
          </a:p>
          <a:p>
            <a:pPr indent="457200"/>
            <a:r>
              <a:rPr lang="en-US" altLang="en-GB" sz="1600"/>
              <a:t>levels</a:t>
            </a:r>
            <a:endParaRPr lang="en-US" altLang="en-GB" sz="1600"/>
          </a:p>
          <a:p>
            <a:r>
              <a:rPr lang="en-US" altLang="en-GB" sz="1600"/>
              <a:t>FROM Employee</a:t>
            </a:r>
            <a:endParaRPr lang="en-US" altLang="en-GB" sz="1600"/>
          </a:p>
          <a:p>
            <a:r>
              <a:rPr lang="en-US" altLang="en-GB" sz="1600"/>
              <a:t>ORDER BY levels DESC</a:t>
            </a:r>
            <a:endParaRPr lang="en-US" altLang="en-GB" sz="1600"/>
          </a:p>
          <a:p>
            <a:r>
              <a:rPr lang="en-US" altLang="en-GB" sz="1600"/>
              <a:t>LIMIT 1;</a:t>
            </a:r>
            <a:endParaRPr lang="en-GB" altLang="en-US" sz="1600"/>
          </a:p>
        </p:txBody>
      </p:sp>
      <p:sp>
        <p:nvSpPr>
          <p:cNvPr id="5" name="Text Box 4"/>
          <p:cNvSpPr txBox="1"/>
          <p:nvPr/>
        </p:nvSpPr>
        <p:spPr>
          <a:xfrm>
            <a:off x="868680" y="5267325"/>
            <a:ext cx="10214610" cy="829945"/>
          </a:xfrm>
          <a:prstGeom prst="rect">
            <a:avLst/>
          </a:prstGeom>
          <a:noFill/>
        </p:spPr>
        <p:txBody>
          <a:bodyPr wrap="square" rtlCol="0" anchor="t">
            <a:spAutoFit/>
          </a:bodyPr>
          <a:p>
            <a:r>
              <a:rPr lang="en-IN" altLang="en-US" sz="1600" b="1">
                <a:solidFill>
                  <a:srgbClr val="C00000"/>
                </a:solidFill>
              </a:rPr>
              <a:t>Insight:</a:t>
            </a:r>
            <a:endParaRPr lang="en-IN" altLang="en-US" sz="1600" b="1">
              <a:solidFill>
                <a:srgbClr val="C00000"/>
              </a:solidFill>
            </a:endParaRPr>
          </a:p>
          <a:p>
            <a:r>
              <a:rPr lang="en-US" altLang="en-GB" sz="1600"/>
              <a:t>Identifies the employee with the highest organizational level, showing who holds the most senior position. This helps understand the company’s leadership structure and reporting hierarchy</a:t>
            </a:r>
            <a:endParaRPr lang="en-GB" altLang="en-US" sz="1600"/>
          </a:p>
        </p:txBody>
      </p:sp>
      <p:pic>
        <p:nvPicPr>
          <p:cNvPr id="6" name="Picture 5"/>
          <p:cNvPicPr>
            <a:picLocks noChangeAspect="1"/>
          </p:cNvPicPr>
          <p:nvPr/>
        </p:nvPicPr>
        <p:blipFill>
          <a:blip r:embed="rId1"/>
          <a:stretch>
            <a:fillRect/>
          </a:stretch>
        </p:blipFill>
        <p:spPr>
          <a:xfrm>
            <a:off x="2157095" y="4152900"/>
            <a:ext cx="6444615" cy="938530"/>
          </a:xfrm>
          <a:prstGeom prst="rect">
            <a:avLst/>
          </a:prstGeom>
        </p:spPr>
      </p:pic>
      <p:sp>
        <p:nvSpPr>
          <p:cNvPr id="7" name="Text Box 6"/>
          <p:cNvSpPr txBox="1"/>
          <p:nvPr/>
        </p:nvSpPr>
        <p:spPr>
          <a:xfrm>
            <a:off x="868680" y="4152900"/>
            <a:ext cx="997585" cy="306705"/>
          </a:xfrm>
          <a:prstGeom prst="rect">
            <a:avLst/>
          </a:prstGeom>
          <a:noFill/>
        </p:spPr>
        <p:txBody>
          <a:bodyPr wrap="square" rtlCol="0">
            <a:spAutoFit/>
          </a:bodyPr>
          <a:p>
            <a:r>
              <a:rPr lang="en-IN" altLang="en-US" b="1">
                <a:solidFill>
                  <a:srgbClr val="C00000"/>
                </a:solidFill>
                <a:sym typeface="+mn-ea"/>
              </a:rPr>
              <a:t>Output:</a:t>
            </a:r>
            <a:endParaRPr lang="en-IN" altLang="en-GB"/>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753110" y="728345"/>
            <a:ext cx="6096000" cy="368300"/>
          </a:xfrm>
          <a:prstGeom prst="rect">
            <a:avLst/>
          </a:prstGeom>
          <a:noFill/>
        </p:spPr>
        <p:txBody>
          <a:bodyPr wrap="square" rtlCol="0" anchor="t">
            <a:spAutoFit/>
          </a:bodyPr>
          <a:p>
            <a:r>
              <a:rPr lang="en-US" altLang="en-GB" sz="1800" b="1">
                <a:solidFill>
                  <a:srgbClr val="C00000"/>
                </a:solidFill>
              </a:rPr>
              <a:t>2. Which countries have the most Invoices?</a:t>
            </a:r>
            <a:r>
              <a:rPr lang="en-US" altLang="en-GB" sz="1800" b="1"/>
              <a:t>  </a:t>
            </a:r>
            <a:endParaRPr lang="en-GB" altLang="en-US" sz="1800" b="1"/>
          </a:p>
        </p:txBody>
      </p:sp>
      <p:sp>
        <p:nvSpPr>
          <p:cNvPr id="3" name="Text Box 2"/>
          <p:cNvSpPr txBox="1"/>
          <p:nvPr/>
        </p:nvSpPr>
        <p:spPr>
          <a:xfrm>
            <a:off x="1022985" y="1391920"/>
            <a:ext cx="4909185" cy="2553335"/>
          </a:xfrm>
          <a:prstGeom prst="rect">
            <a:avLst/>
          </a:prstGeom>
          <a:noFill/>
          <a:ln w="9525">
            <a:solidFill>
              <a:schemeClr val="tx1"/>
            </a:solidFill>
          </a:ln>
        </p:spPr>
        <p:txBody>
          <a:bodyPr wrap="square" rtlCol="0" anchor="t">
            <a:spAutoFit/>
          </a:bodyPr>
          <a:p>
            <a:r>
              <a:rPr lang="en-US" altLang="en-GB" sz="1600"/>
              <a:t>CREATE VIEW invoice_count_by_country AS</a:t>
            </a:r>
            <a:endParaRPr lang="en-US" altLang="en-GB" sz="1600"/>
          </a:p>
          <a:p>
            <a:r>
              <a:rPr lang="en-US" altLang="en-GB" sz="1600"/>
              <a:t>SELECT </a:t>
            </a:r>
            <a:endParaRPr lang="en-US" altLang="en-GB" sz="1600"/>
          </a:p>
          <a:p>
            <a:r>
              <a:rPr lang="en-US" altLang="en-GB" sz="1600"/>
              <a:t>    billing_country,</a:t>
            </a:r>
            <a:endParaRPr lang="en-US" altLang="en-GB" sz="1600"/>
          </a:p>
          <a:p>
            <a:r>
              <a:rPr lang="en-US" altLang="en-GB" sz="1600"/>
              <a:t>    COUNT(invoice_id) AS invoice_count</a:t>
            </a:r>
            <a:endParaRPr lang="en-US" altLang="en-GB" sz="1600"/>
          </a:p>
          <a:p>
            <a:r>
              <a:rPr lang="en-US" altLang="en-GB" sz="1600"/>
              <a:t>FROM Invoice</a:t>
            </a:r>
            <a:endParaRPr lang="en-US" altLang="en-GB" sz="1600"/>
          </a:p>
          <a:p>
            <a:r>
              <a:rPr lang="en-US" altLang="en-GB" sz="1600"/>
              <a:t>GROUP BY billing_country</a:t>
            </a:r>
            <a:endParaRPr lang="en-US" altLang="en-GB" sz="1600"/>
          </a:p>
          <a:p>
            <a:r>
              <a:rPr lang="en-US" altLang="en-GB" sz="1600"/>
              <a:t>ORDER BY invoice_count DESC;</a:t>
            </a:r>
            <a:endParaRPr lang="en-US" altLang="en-GB" sz="1600"/>
          </a:p>
          <a:p>
            <a:endParaRPr lang="en-US" altLang="en-GB" sz="1600"/>
          </a:p>
          <a:p>
            <a:r>
              <a:rPr lang="en-US" altLang="en-GB" sz="1600"/>
              <a:t>SELECT *</a:t>
            </a:r>
            <a:endParaRPr lang="en-US" altLang="en-GB" sz="1600"/>
          </a:p>
          <a:p>
            <a:r>
              <a:rPr lang="en-US" altLang="en-GB" sz="1600"/>
              <a:t>FROM invoice_count_by_country;</a:t>
            </a:r>
            <a:endParaRPr lang="en-US" altLang="en-GB" sz="1600"/>
          </a:p>
        </p:txBody>
      </p:sp>
      <p:sp>
        <p:nvSpPr>
          <p:cNvPr id="5" name="Text Box 4"/>
          <p:cNvSpPr txBox="1"/>
          <p:nvPr/>
        </p:nvSpPr>
        <p:spPr>
          <a:xfrm>
            <a:off x="1022985" y="4350385"/>
            <a:ext cx="5227955" cy="1322070"/>
          </a:xfrm>
          <a:prstGeom prst="rect">
            <a:avLst/>
          </a:prstGeom>
          <a:noFill/>
        </p:spPr>
        <p:txBody>
          <a:bodyPr wrap="square" rtlCol="0" anchor="t">
            <a:spAutoFit/>
          </a:bodyPr>
          <a:p>
            <a:r>
              <a:rPr lang="en-IN" altLang="en-US" sz="1600" b="1">
                <a:solidFill>
                  <a:srgbClr val="C00000"/>
                </a:solidFill>
              </a:rPr>
              <a:t>Insight:</a:t>
            </a:r>
            <a:endParaRPr lang="en-IN" altLang="en-US" sz="1600" b="1">
              <a:solidFill>
                <a:srgbClr val="C00000"/>
              </a:solidFill>
            </a:endParaRPr>
          </a:p>
          <a:p>
            <a:pPr algn="just"/>
            <a:r>
              <a:rPr lang="en-US" altLang="en-GB" sz="1600"/>
              <a:t>Shows which countries generate the highest number of customer transactions. These markets have stronger purchasing activity and can be important targets for regional marketing.</a:t>
            </a:r>
            <a:endParaRPr lang="en-US" altLang="en-GB" sz="1600"/>
          </a:p>
        </p:txBody>
      </p:sp>
      <p:sp>
        <p:nvSpPr>
          <p:cNvPr id="6" name="Text Box 5"/>
          <p:cNvSpPr txBox="1"/>
          <p:nvPr/>
        </p:nvSpPr>
        <p:spPr>
          <a:xfrm>
            <a:off x="7347585" y="993775"/>
            <a:ext cx="3115945" cy="337185"/>
          </a:xfrm>
          <a:prstGeom prst="rect">
            <a:avLst/>
          </a:prstGeom>
          <a:noFill/>
        </p:spPr>
        <p:txBody>
          <a:bodyPr wrap="square" rtlCol="0" anchor="t">
            <a:spAutoFit/>
          </a:bodyPr>
          <a:p>
            <a:r>
              <a:rPr lang="en-IN" altLang="en-US" sz="1600" b="1">
                <a:solidFill>
                  <a:srgbClr val="C00000"/>
                </a:solidFill>
                <a:sym typeface="+mn-ea"/>
              </a:rPr>
              <a:t>Output:</a:t>
            </a:r>
            <a:endParaRPr lang="en-IN" altLang="en-US" sz="1600" b="1">
              <a:solidFill>
                <a:srgbClr val="C00000"/>
              </a:solidFill>
              <a:sym typeface="+mn-ea"/>
            </a:endParaRPr>
          </a:p>
        </p:txBody>
      </p:sp>
      <p:pic>
        <p:nvPicPr>
          <p:cNvPr id="7" name="Picture 6"/>
          <p:cNvPicPr>
            <a:picLocks noChangeAspect="1"/>
          </p:cNvPicPr>
          <p:nvPr/>
        </p:nvPicPr>
        <p:blipFill>
          <a:blip r:embed="rId1"/>
          <a:stretch>
            <a:fillRect/>
          </a:stretch>
        </p:blipFill>
        <p:spPr>
          <a:xfrm>
            <a:off x="7347585" y="1517650"/>
            <a:ext cx="2780665" cy="36195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753110" y="728345"/>
            <a:ext cx="6096000" cy="368300"/>
          </a:xfrm>
          <a:prstGeom prst="rect">
            <a:avLst/>
          </a:prstGeom>
          <a:noFill/>
        </p:spPr>
        <p:txBody>
          <a:bodyPr wrap="square" rtlCol="0" anchor="t">
            <a:spAutoFit/>
          </a:bodyPr>
          <a:p>
            <a:r>
              <a:rPr lang="en-US" altLang="en-GB" sz="1800" b="1">
                <a:solidFill>
                  <a:srgbClr val="C00000"/>
                </a:solidFill>
              </a:rPr>
              <a:t>3. What are the top 3 values of total invoice? </a:t>
            </a:r>
            <a:endParaRPr lang="en-US" altLang="en-GB" sz="1800" b="1">
              <a:solidFill>
                <a:srgbClr val="C00000"/>
              </a:solidFill>
            </a:endParaRPr>
          </a:p>
        </p:txBody>
      </p:sp>
      <p:sp>
        <p:nvSpPr>
          <p:cNvPr id="3" name="Text Box 2"/>
          <p:cNvSpPr txBox="1"/>
          <p:nvPr/>
        </p:nvSpPr>
        <p:spPr>
          <a:xfrm>
            <a:off x="1033780" y="1247140"/>
            <a:ext cx="5970905" cy="2306955"/>
          </a:xfrm>
          <a:prstGeom prst="rect">
            <a:avLst/>
          </a:prstGeom>
          <a:noFill/>
          <a:ln>
            <a:solidFill>
              <a:schemeClr val="tx1"/>
            </a:solidFill>
          </a:ln>
        </p:spPr>
        <p:txBody>
          <a:bodyPr wrap="square" rtlCol="0" anchor="t">
            <a:spAutoFit/>
          </a:bodyPr>
          <a:p>
            <a:r>
              <a:rPr lang="en-US" altLang="en-GB" sz="1600"/>
              <a:t>SELECT invoice_id, total</a:t>
            </a:r>
            <a:endParaRPr lang="en-US" altLang="en-GB" sz="1600"/>
          </a:p>
          <a:p>
            <a:r>
              <a:rPr lang="en-US" altLang="en-GB" sz="1600"/>
              <a:t>FROM (</a:t>
            </a:r>
            <a:endParaRPr lang="en-US" altLang="en-GB" sz="1600"/>
          </a:p>
          <a:p>
            <a:r>
              <a:rPr lang="en-US" altLang="en-GB" sz="1600"/>
              <a:t>    SELECT </a:t>
            </a:r>
            <a:endParaRPr lang="en-US" altLang="en-GB" sz="1600"/>
          </a:p>
          <a:p>
            <a:r>
              <a:rPr lang="en-US" altLang="en-GB" sz="1600"/>
              <a:t>        invoice_id,</a:t>
            </a:r>
            <a:endParaRPr lang="en-US" altLang="en-GB" sz="1600"/>
          </a:p>
          <a:p>
            <a:r>
              <a:rPr lang="en-US" altLang="en-GB" sz="1600"/>
              <a:t>        total,</a:t>
            </a:r>
            <a:endParaRPr lang="en-US" altLang="en-GB" sz="1600"/>
          </a:p>
          <a:p>
            <a:r>
              <a:rPr lang="en-US" altLang="en-GB" sz="1600"/>
              <a:t>        ROW_NUMBER() OVER (ORDER BY total DESC) AS rn</a:t>
            </a:r>
            <a:endParaRPr lang="en-US" altLang="en-GB" sz="1600"/>
          </a:p>
          <a:p>
            <a:r>
              <a:rPr lang="en-US" altLang="en-GB" sz="1600"/>
              <a:t>    FROM Invoice</a:t>
            </a:r>
            <a:endParaRPr lang="en-US" altLang="en-GB" sz="1600"/>
          </a:p>
          <a:p>
            <a:r>
              <a:rPr lang="en-US" altLang="en-GB" sz="1600"/>
              <a:t>) AS ranked_invoices</a:t>
            </a:r>
            <a:endParaRPr lang="en-US" altLang="en-GB" sz="1600"/>
          </a:p>
          <a:p>
            <a:r>
              <a:rPr lang="en-US" altLang="en-GB" sz="1600"/>
              <a:t>WHERE rn &lt;= 3;</a:t>
            </a:r>
            <a:endParaRPr lang="en-US" altLang="en-GB" sz="1600"/>
          </a:p>
        </p:txBody>
      </p:sp>
      <p:sp>
        <p:nvSpPr>
          <p:cNvPr id="5" name="Text Box 4"/>
          <p:cNvSpPr txBox="1"/>
          <p:nvPr/>
        </p:nvSpPr>
        <p:spPr>
          <a:xfrm>
            <a:off x="868045" y="5229225"/>
            <a:ext cx="10484485" cy="829945"/>
          </a:xfrm>
          <a:prstGeom prst="rect">
            <a:avLst/>
          </a:prstGeom>
          <a:noFill/>
        </p:spPr>
        <p:txBody>
          <a:bodyPr wrap="square" rtlCol="0" anchor="t">
            <a:spAutoFit/>
          </a:bodyPr>
          <a:p>
            <a:r>
              <a:rPr lang="en-IN" altLang="en-US" sz="1600" b="1">
                <a:solidFill>
                  <a:srgbClr val="C00000"/>
                </a:solidFill>
              </a:rPr>
              <a:t>Insight:</a:t>
            </a:r>
            <a:endParaRPr lang="en-IN" altLang="en-US" sz="1600" b="1">
              <a:solidFill>
                <a:srgbClr val="C00000"/>
              </a:solidFill>
            </a:endParaRPr>
          </a:p>
          <a:p>
            <a:pPr algn="just"/>
            <a:r>
              <a:rPr lang="en-US" altLang="en-GB" sz="1600"/>
              <a:t>Highlights the three largest individual invoices in the business. These transactions represent high-value purchases and can help identify unusually large customer orders.</a:t>
            </a:r>
            <a:endParaRPr lang="en-US" altLang="en-GB" sz="1600"/>
          </a:p>
        </p:txBody>
      </p:sp>
      <p:pic>
        <p:nvPicPr>
          <p:cNvPr id="4" name="Picture 3"/>
          <p:cNvPicPr>
            <a:picLocks noChangeAspect="1"/>
          </p:cNvPicPr>
          <p:nvPr/>
        </p:nvPicPr>
        <p:blipFill>
          <a:blip r:embed="rId1"/>
          <a:stretch>
            <a:fillRect/>
          </a:stretch>
        </p:blipFill>
        <p:spPr>
          <a:xfrm>
            <a:off x="2290445" y="3837305"/>
            <a:ext cx="2652395" cy="1318895"/>
          </a:xfrm>
          <a:prstGeom prst="rect">
            <a:avLst/>
          </a:prstGeom>
        </p:spPr>
      </p:pic>
      <p:sp>
        <p:nvSpPr>
          <p:cNvPr id="6" name="Text Box 5"/>
          <p:cNvSpPr txBox="1"/>
          <p:nvPr/>
        </p:nvSpPr>
        <p:spPr>
          <a:xfrm>
            <a:off x="1033780" y="3904615"/>
            <a:ext cx="6096000" cy="337185"/>
          </a:xfrm>
          <a:prstGeom prst="rect">
            <a:avLst/>
          </a:prstGeom>
          <a:noFill/>
        </p:spPr>
        <p:txBody>
          <a:bodyPr wrap="square" rtlCol="0" anchor="t">
            <a:spAutoFit/>
          </a:bodyPr>
          <a:p>
            <a:r>
              <a:rPr lang="en-IN" altLang="en-US" sz="1600" b="1">
                <a:solidFill>
                  <a:srgbClr val="C00000"/>
                </a:solidFill>
                <a:sym typeface="+mn-ea"/>
              </a:rPr>
              <a:t>Output:</a:t>
            </a:r>
            <a:endParaRPr lang="en-IN" altLang="en-US" sz="1600" b="1">
              <a:solidFill>
                <a:srgbClr val="C00000"/>
              </a:solidFill>
              <a:sym typeface="+mn-ea"/>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1090295" y="728345"/>
            <a:ext cx="10175875" cy="521970"/>
          </a:xfrm>
          <a:prstGeom prst="rect">
            <a:avLst/>
          </a:prstGeom>
          <a:noFill/>
        </p:spPr>
        <p:txBody>
          <a:bodyPr wrap="square" rtlCol="0" anchor="t">
            <a:spAutoFit/>
          </a:bodyPr>
          <a:p>
            <a:r>
              <a:rPr lang="en-IN" altLang="en-US" b="1">
                <a:solidFill>
                  <a:srgbClr val="C00000"/>
                </a:solidFill>
              </a:rPr>
              <a:t>4. </a:t>
            </a:r>
            <a:r>
              <a:rPr lang="en-US" altLang="en-GB" b="1">
                <a:solidFill>
                  <a:srgbClr val="C00000"/>
                </a:solidFill>
              </a:rPr>
              <a:t>Write a query that returns one city that has the highest sum of invoice totals. Return both the city name &amp; sum of all invoice totals  </a:t>
            </a:r>
            <a:endParaRPr lang="en-US" altLang="en-GB" b="1">
              <a:solidFill>
                <a:srgbClr val="C00000"/>
              </a:solidFill>
            </a:endParaRPr>
          </a:p>
        </p:txBody>
      </p:sp>
      <p:sp>
        <p:nvSpPr>
          <p:cNvPr id="3" name="Text Box 2"/>
          <p:cNvSpPr txBox="1"/>
          <p:nvPr/>
        </p:nvSpPr>
        <p:spPr>
          <a:xfrm>
            <a:off x="1186815" y="1391920"/>
            <a:ext cx="4909185" cy="3291840"/>
          </a:xfrm>
          <a:prstGeom prst="rect">
            <a:avLst/>
          </a:prstGeom>
          <a:noFill/>
          <a:ln>
            <a:solidFill>
              <a:schemeClr val="tx1"/>
            </a:solidFill>
          </a:ln>
        </p:spPr>
        <p:txBody>
          <a:bodyPr wrap="square" rtlCol="0" anchor="t">
            <a:spAutoFit/>
          </a:bodyPr>
          <a:p>
            <a:r>
              <a:rPr lang="en-US" altLang="en-GB" sz="1600"/>
              <a:t>WITH city_revenue AS (</a:t>
            </a:r>
            <a:endParaRPr lang="en-US" altLang="en-GB" sz="1600"/>
          </a:p>
          <a:p>
            <a:r>
              <a:rPr lang="en-US" altLang="en-GB" sz="1600"/>
              <a:t>    SELECT</a:t>
            </a:r>
            <a:endParaRPr lang="en-US" altLang="en-GB" sz="1600"/>
          </a:p>
          <a:p>
            <a:r>
              <a:rPr lang="en-US" altLang="en-GB" sz="1600"/>
              <a:t>        billing_city,</a:t>
            </a:r>
            <a:endParaRPr lang="en-US" altLang="en-GB" sz="1600"/>
          </a:p>
          <a:p>
            <a:r>
              <a:rPr lang="en-US" altLang="en-GB" sz="1600"/>
              <a:t>        SUM(total) AS total_revenue</a:t>
            </a:r>
            <a:endParaRPr lang="en-US" altLang="en-GB" sz="1600"/>
          </a:p>
          <a:p>
            <a:r>
              <a:rPr lang="en-US" altLang="en-GB" sz="1600"/>
              <a:t>    FROM Invoice</a:t>
            </a:r>
            <a:endParaRPr lang="en-US" altLang="en-GB" sz="1600"/>
          </a:p>
          <a:p>
            <a:r>
              <a:rPr lang="en-US" altLang="en-GB" sz="1600"/>
              <a:t>    GROUP BY billing_city</a:t>
            </a:r>
            <a:endParaRPr lang="en-US" altLang="en-GB" sz="1600"/>
          </a:p>
          <a:p>
            <a:r>
              <a:rPr lang="en-US" altLang="en-GB" sz="1600"/>
              <a:t>)</a:t>
            </a:r>
            <a:endParaRPr lang="en-US" altLang="en-GB" sz="1600"/>
          </a:p>
          <a:p>
            <a:r>
              <a:rPr lang="en-US" altLang="en-GB" sz="1600"/>
              <a:t>SELECT</a:t>
            </a:r>
            <a:endParaRPr lang="en-US" altLang="en-GB" sz="1600"/>
          </a:p>
          <a:p>
            <a:r>
              <a:rPr lang="en-US" altLang="en-GB" sz="1600"/>
              <a:t>    billing_city,</a:t>
            </a:r>
            <a:endParaRPr lang="en-US" altLang="en-GB" sz="1600"/>
          </a:p>
          <a:p>
            <a:r>
              <a:rPr lang="en-US" altLang="en-GB" sz="1600"/>
              <a:t>    total_revenue</a:t>
            </a:r>
            <a:endParaRPr lang="en-US" altLang="en-GB" sz="1600"/>
          </a:p>
          <a:p>
            <a:r>
              <a:rPr lang="en-US" altLang="en-GB" sz="1600"/>
              <a:t>FROM city_revenue</a:t>
            </a:r>
            <a:endParaRPr lang="en-US" altLang="en-GB" sz="1600"/>
          </a:p>
          <a:p>
            <a:r>
              <a:rPr lang="en-US" altLang="en-GB" sz="1600"/>
              <a:t>ORDER BY total_revenue DESC</a:t>
            </a:r>
            <a:endParaRPr lang="en-US" altLang="en-GB" sz="1600"/>
          </a:p>
          <a:p>
            <a:r>
              <a:rPr lang="en-US" altLang="en-GB" sz="1600"/>
              <a:t>LIMIT 1;</a:t>
            </a:r>
            <a:endParaRPr lang="en-US" altLang="en-GB" sz="1600"/>
          </a:p>
        </p:txBody>
      </p:sp>
      <p:sp>
        <p:nvSpPr>
          <p:cNvPr id="5" name="Text Box 4"/>
          <p:cNvSpPr txBox="1"/>
          <p:nvPr/>
        </p:nvSpPr>
        <p:spPr>
          <a:xfrm>
            <a:off x="1013460" y="4900930"/>
            <a:ext cx="10252710" cy="829945"/>
          </a:xfrm>
          <a:prstGeom prst="rect">
            <a:avLst/>
          </a:prstGeom>
          <a:noFill/>
        </p:spPr>
        <p:txBody>
          <a:bodyPr wrap="square" rtlCol="0" anchor="t">
            <a:spAutoFit/>
          </a:bodyPr>
          <a:p>
            <a:r>
              <a:rPr lang="en-IN" altLang="en-US" sz="1600" b="1">
                <a:solidFill>
                  <a:srgbClr val="C00000"/>
                </a:solidFill>
              </a:rPr>
              <a:t>Insight:</a:t>
            </a:r>
            <a:endParaRPr lang="en-IN" altLang="en-US" sz="1600" b="1">
              <a:solidFill>
                <a:srgbClr val="C00000"/>
              </a:solidFill>
            </a:endParaRPr>
          </a:p>
          <a:p>
            <a:pPr algn="just"/>
            <a:r>
              <a:rPr lang="en-US" altLang="en-GB" sz="1600"/>
              <a:t>Identifies the city contributing the most total invoice revenue. This city represents a strong revenue market and could be considered when planning promotional events.</a:t>
            </a:r>
            <a:endParaRPr lang="en-US" altLang="en-GB" sz="1600"/>
          </a:p>
        </p:txBody>
      </p:sp>
      <p:pic>
        <p:nvPicPr>
          <p:cNvPr id="4" name="Picture 3"/>
          <p:cNvPicPr>
            <a:picLocks noChangeAspect="1"/>
          </p:cNvPicPr>
          <p:nvPr/>
        </p:nvPicPr>
        <p:blipFill>
          <a:blip r:embed="rId1"/>
          <a:stretch>
            <a:fillRect/>
          </a:stretch>
        </p:blipFill>
        <p:spPr>
          <a:xfrm>
            <a:off x="7127875" y="1991995"/>
            <a:ext cx="2352040" cy="628650"/>
          </a:xfrm>
          <a:prstGeom prst="rect">
            <a:avLst/>
          </a:prstGeom>
        </p:spPr>
      </p:pic>
      <p:sp>
        <p:nvSpPr>
          <p:cNvPr id="6" name="Text Box 5"/>
          <p:cNvSpPr txBox="1"/>
          <p:nvPr/>
        </p:nvSpPr>
        <p:spPr>
          <a:xfrm>
            <a:off x="7127875" y="1391920"/>
            <a:ext cx="1196975" cy="337185"/>
          </a:xfrm>
          <a:prstGeom prst="rect">
            <a:avLst/>
          </a:prstGeom>
          <a:noFill/>
        </p:spPr>
        <p:txBody>
          <a:bodyPr wrap="square" rtlCol="0" anchor="t">
            <a:spAutoFit/>
          </a:bodyPr>
          <a:p>
            <a:r>
              <a:rPr lang="en-IN" altLang="en-US" sz="1600" b="1">
                <a:solidFill>
                  <a:srgbClr val="C00000"/>
                </a:solidFill>
                <a:sym typeface="+mn-ea"/>
              </a:rPr>
              <a:t>Output:</a:t>
            </a:r>
            <a:endParaRPr lang="en-IN" altLang="en-US" sz="1600" b="1">
              <a:solidFill>
                <a:srgbClr val="C00000"/>
              </a:solidFill>
              <a:sym typeface="+mn-ea"/>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753110" y="728345"/>
            <a:ext cx="10513060" cy="521970"/>
          </a:xfrm>
          <a:prstGeom prst="rect">
            <a:avLst/>
          </a:prstGeom>
          <a:noFill/>
        </p:spPr>
        <p:txBody>
          <a:bodyPr wrap="square" rtlCol="0" anchor="t">
            <a:spAutoFit/>
          </a:bodyPr>
          <a:p>
            <a:r>
              <a:rPr lang="en-IN" altLang="en-US" b="1">
                <a:solidFill>
                  <a:srgbClr val="C00000"/>
                </a:solidFill>
              </a:rPr>
              <a:t>5. </a:t>
            </a:r>
            <a:r>
              <a:rPr lang="en-US" altLang="en-GB" b="1">
                <a:solidFill>
                  <a:srgbClr val="C00000"/>
                </a:solidFill>
              </a:rPr>
              <a:t>Write a query to return the email, first name, last name, &amp; Genre of all Rock Music listeners. Return your list ordered alphabetically by email starting with A </a:t>
            </a:r>
            <a:endParaRPr lang="en-US" altLang="en-GB" b="1">
              <a:solidFill>
                <a:srgbClr val="C00000"/>
              </a:solidFill>
            </a:endParaRPr>
          </a:p>
        </p:txBody>
      </p:sp>
      <p:sp>
        <p:nvSpPr>
          <p:cNvPr id="3" name="Text Box 2"/>
          <p:cNvSpPr txBox="1"/>
          <p:nvPr/>
        </p:nvSpPr>
        <p:spPr>
          <a:xfrm>
            <a:off x="878205" y="1330325"/>
            <a:ext cx="3723640" cy="4030980"/>
          </a:xfrm>
          <a:prstGeom prst="rect">
            <a:avLst/>
          </a:prstGeom>
          <a:noFill/>
          <a:ln>
            <a:solidFill>
              <a:schemeClr val="tx1"/>
            </a:solidFill>
          </a:ln>
        </p:spPr>
        <p:txBody>
          <a:bodyPr wrap="square" rtlCol="0" anchor="t">
            <a:spAutoFit/>
          </a:bodyPr>
          <a:p>
            <a:r>
              <a:rPr lang="en-US" altLang="en-GB" sz="1600"/>
              <a:t>SELECT DISTINCT</a:t>
            </a:r>
            <a:endParaRPr lang="en-US" altLang="en-GB" sz="1600"/>
          </a:p>
          <a:p>
            <a:pPr indent="457200"/>
            <a:r>
              <a:rPr lang="en-US" altLang="en-GB" sz="1600"/>
              <a:t>c.email,</a:t>
            </a:r>
            <a:endParaRPr lang="en-US" altLang="en-GB" sz="1600"/>
          </a:p>
          <a:p>
            <a:pPr indent="457200"/>
            <a:r>
              <a:rPr lang="en-US" altLang="en-GB" sz="1600"/>
              <a:t>c.first_name,</a:t>
            </a:r>
            <a:endParaRPr lang="en-US" altLang="en-GB" sz="1600"/>
          </a:p>
          <a:p>
            <a:pPr indent="457200"/>
            <a:r>
              <a:rPr lang="en-US" altLang="en-GB" sz="1600"/>
              <a:t>c.last_name,</a:t>
            </a:r>
            <a:endParaRPr lang="en-US" altLang="en-GB" sz="1600"/>
          </a:p>
          <a:p>
            <a:pPr indent="457200"/>
            <a:r>
              <a:rPr lang="en-US" altLang="en-GB" sz="1600"/>
              <a:t>g.name AS genre</a:t>
            </a:r>
            <a:endParaRPr lang="en-US" altLang="en-GB" sz="1600"/>
          </a:p>
          <a:p>
            <a:r>
              <a:rPr lang="en-US" altLang="en-GB" sz="1600"/>
              <a:t>FROM Customer AS c</a:t>
            </a:r>
            <a:endParaRPr lang="en-US" altLang="en-GB" sz="1600"/>
          </a:p>
          <a:p>
            <a:r>
              <a:rPr lang="en-US" altLang="en-GB" sz="1600"/>
              <a:t>INNER JOIN Invoice AS i</a:t>
            </a:r>
            <a:endParaRPr lang="en-US" altLang="en-GB" sz="1600"/>
          </a:p>
          <a:p>
            <a:r>
              <a:rPr lang="en-US" altLang="en-GB" sz="1600"/>
              <a:t>ON c.customer_id = i.customer_id</a:t>
            </a:r>
            <a:endParaRPr lang="en-US" altLang="en-GB" sz="1600"/>
          </a:p>
          <a:p>
            <a:r>
              <a:rPr lang="en-US" altLang="en-GB" sz="1600"/>
              <a:t>INNER JOIN InvoiceLine AS il</a:t>
            </a:r>
            <a:endParaRPr lang="en-US" altLang="en-GB" sz="1600"/>
          </a:p>
          <a:p>
            <a:r>
              <a:rPr lang="en-US" altLang="en-GB" sz="1600"/>
              <a:t>ON i.invoice_id = il.invoice_id</a:t>
            </a:r>
            <a:endParaRPr lang="en-US" altLang="en-GB" sz="1600"/>
          </a:p>
          <a:p>
            <a:r>
              <a:rPr lang="en-US" altLang="en-GB" sz="1600"/>
              <a:t>INNER JOIN Track AS t</a:t>
            </a:r>
            <a:endParaRPr lang="en-US" altLang="en-GB" sz="1600"/>
          </a:p>
          <a:p>
            <a:r>
              <a:rPr lang="en-US" altLang="en-GB" sz="1600"/>
              <a:t>ON il.track_id = t.track_id</a:t>
            </a:r>
            <a:endParaRPr lang="en-US" altLang="en-GB" sz="1600"/>
          </a:p>
          <a:p>
            <a:r>
              <a:rPr lang="en-US" altLang="en-GB" sz="1600"/>
              <a:t>INNER JOIN Genre AS g</a:t>
            </a:r>
            <a:endParaRPr lang="en-US" altLang="en-GB" sz="1600"/>
          </a:p>
          <a:p>
            <a:r>
              <a:rPr lang="en-US" altLang="en-GB" sz="1600"/>
              <a:t>ON t.genre_id = g.genre_id</a:t>
            </a:r>
            <a:endParaRPr lang="en-US" altLang="en-GB" sz="1600"/>
          </a:p>
          <a:p>
            <a:r>
              <a:rPr lang="en-US" altLang="en-GB" sz="1600"/>
              <a:t>WHERE g.name = 'Rock'</a:t>
            </a:r>
            <a:endParaRPr lang="en-US" altLang="en-GB" sz="1600"/>
          </a:p>
          <a:p>
            <a:r>
              <a:rPr lang="en-US" altLang="en-GB" sz="1600"/>
              <a:t>ORDER BY c.email;</a:t>
            </a:r>
            <a:endParaRPr lang="en-US" altLang="en-GB" sz="1600"/>
          </a:p>
        </p:txBody>
      </p:sp>
      <p:sp>
        <p:nvSpPr>
          <p:cNvPr id="5" name="Text Box 4"/>
          <p:cNvSpPr txBox="1"/>
          <p:nvPr/>
        </p:nvSpPr>
        <p:spPr>
          <a:xfrm>
            <a:off x="878205" y="5441315"/>
            <a:ext cx="10657205" cy="829945"/>
          </a:xfrm>
          <a:prstGeom prst="rect">
            <a:avLst/>
          </a:prstGeom>
          <a:noFill/>
        </p:spPr>
        <p:txBody>
          <a:bodyPr wrap="square" rtlCol="0" anchor="t">
            <a:spAutoFit/>
          </a:bodyPr>
          <a:p>
            <a:r>
              <a:rPr lang="en-IN" altLang="en-US" sz="1600" b="1">
                <a:solidFill>
                  <a:srgbClr val="C00000"/>
                </a:solidFill>
              </a:rPr>
              <a:t>Insight:</a:t>
            </a:r>
            <a:endParaRPr lang="en-IN" altLang="en-US" sz="1600" b="1">
              <a:solidFill>
                <a:srgbClr val="C00000"/>
              </a:solidFill>
            </a:endParaRPr>
          </a:p>
          <a:p>
            <a:pPr algn="just"/>
            <a:r>
              <a:rPr lang="en-US" altLang="en-GB" sz="1600"/>
              <a:t>Identifies the customer who has generated the greatest total spending. </a:t>
            </a:r>
            <a:r>
              <a:rPr lang="en-IN" altLang="en-US" sz="1600"/>
              <a:t>T</a:t>
            </a:r>
            <a:r>
              <a:rPr lang="en-US" altLang="en-GB" sz="1600"/>
              <a:t>his customer represents a high-value relationship and could be important for customer-retention strategies.</a:t>
            </a:r>
            <a:endParaRPr lang="en-US" altLang="en-GB" sz="1600"/>
          </a:p>
        </p:txBody>
      </p:sp>
      <p:pic>
        <p:nvPicPr>
          <p:cNvPr id="4" name="Picture 3"/>
          <p:cNvPicPr>
            <a:picLocks noChangeAspect="1"/>
          </p:cNvPicPr>
          <p:nvPr/>
        </p:nvPicPr>
        <p:blipFill>
          <a:blip r:embed="rId1"/>
          <a:stretch>
            <a:fillRect/>
          </a:stretch>
        </p:blipFill>
        <p:spPr>
          <a:xfrm>
            <a:off x="6579870" y="2324100"/>
            <a:ext cx="4394835" cy="2473325"/>
          </a:xfrm>
          <a:prstGeom prst="rect">
            <a:avLst/>
          </a:prstGeom>
        </p:spPr>
      </p:pic>
      <p:sp>
        <p:nvSpPr>
          <p:cNvPr id="6" name="Text Box 5"/>
          <p:cNvSpPr txBox="1"/>
          <p:nvPr/>
        </p:nvSpPr>
        <p:spPr>
          <a:xfrm>
            <a:off x="6579870" y="1663700"/>
            <a:ext cx="1196975" cy="337185"/>
          </a:xfrm>
          <a:prstGeom prst="rect">
            <a:avLst/>
          </a:prstGeom>
          <a:noFill/>
        </p:spPr>
        <p:txBody>
          <a:bodyPr wrap="square" rtlCol="0" anchor="t">
            <a:spAutoFit/>
          </a:bodyPr>
          <a:p>
            <a:r>
              <a:rPr lang="en-IN" altLang="en-US" sz="1600" b="1">
                <a:solidFill>
                  <a:srgbClr val="C00000"/>
                </a:solidFill>
                <a:sym typeface="+mn-ea"/>
              </a:rPr>
              <a:t>Output:</a:t>
            </a:r>
            <a:endParaRPr lang="en-IN" altLang="en-US" sz="1600" b="1">
              <a:solidFill>
                <a:srgbClr val="C00000"/>
              </a:solidFill>
              <a:sym typeface="+mn-ea"/>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753110" y="728345"/>
            <a:ext cx="10513060" cy="521970"/>
          </a:xfrm>
          <a:prstGeom prst="rect">
            <a:avLst/>
          </a:prstGeom>
          <a:noFill/>
        </p:spPr>
        <p:txBody>
          <a:bodyPr wrap="square" rtlCol="0" anchor="t">
            <a:spAutoFit/>
          </a:bodyPr>
          <a:p>
            <a:r>
              <a:rPr lang="en-IN" altLang="en-US" b="1">
                <a:solidFill>
                  <a:srgbClr val="C00000"/>
                </a:solidFill>
              </a:rPr>
              <a:t>6</a:t>
            </a:r>
            <a:r>
              <a:rPr lang="en-US" altLang="en-GB" b="1">
                <a:solidFill>
                  <a:srgbClr val="C00000"/>
                </a:solidFill>
              </a:rPr>
              <a:t>. Let's invite the artists who have written the most rock music in our dataset. Write a query that returns the Artist name and total track count of the top 10 rock bands  </a:t>
            </a:r>
            <a:endParaRPr lang="en-US" altLang="en-GB" b="1">
              <a:solidFill>
                <a:srgbClr val="C00000"/>
              </a:solidFill>
            </a:endParaRPr>
          </a:p>
        </p:txBody>
      </p:sp>
      <p:sp>
        <p:nvSpPr>
          <p:cNvPr id="3" name="Text Box 2"/>
          <p:cNvSpPr txBox="1"/>
          <p:nvPr/>
        </p:nvSpPr>
        <p:spPr>
          <a:xfrm>
            <a:off x="878205" y="1330325"/>
            <a:ext cx="5131435" cy="5015865"/>
          </a:xfrm>
          <a:prstGeom prst="rect">
            <a:avLst/>
          </a:prstGeom>
          <a:noFill/>
          <a:ln>
            <a:solidFill>
              <a:schemeClr val="tx1"/>
            </a:solidFill>
          </a:ln>
        </p:spPr>
        <p:txBody>
          <a:bodyPr wrap="square" rtlCol="0" anchor="t">
            <a:spAutoFit/>
          </a:bodyPr>
          <a:p>
            <a:r>
              <a:rPr lang="en-US" altLang="en-GB" sz="1600"/>
              <a:t>SELECT</a:t>
            </a:r>
            <a:endParaRPr lang="en-US" altLang="en-GB" sz="1600"/>
          </a:p>
          <a:p>
            <a:r>
              <a:rPr lang="en-US" altLang="en-GB" sz="1600"/>
              <a:t>    artist_name,</a:t>
            </a:r>
            <a:endParaRPr lang="en-US" altLang="en-GB" sz="1600"/>
          </a:p>
          <a:p>
            <a:r>
              <a:rPr lang="en-US" altLang="en-GB" sz="1600"/>
              <a:t>    COUNT(track_id) AS rock_track_count</a:t>
            </a:r>
            <a:endParaRPr lang="en-US" altLang="en-GB" sz="1600"/>
          </a:p>
          <a:p>
            <a:r>
              <a:rPr lang="en-US" altLang="en-GB" sz="1600"/>
              <a:t>FROM (</a:t>
            </a:r>
            <a:endParaRPr lang="en-US" altLang="en-GB" sz="1600"/>
          </a:p>
          <a:p>
            <a:r>
              <a:rPr lang="en-US" altLang="en-GB" sz="1600"/>
              <a:t>    SELECT</a:t>
            </a:r>
            <a:endParaRPr lang="en-US" altLang="en-GB" sz="1600"/>
          </a:p>
          <a:p>
            <a:r>
              <a:rPr lang="en-US" altLang="en-GB" sz="1600"/>
              <a:t>        ar.artist_id,</a:t>
            </a:r>
            <a:endParaRPr lang="en-US" altLang="en-GB" sz="1600"/>
          </a:p>
          <a:p>
            <a:r>
              <a:rPr lang="en-US" altLang="en-GB" sz="1600"/>
              <a:t>        ar.name AS artist_name,</a:t>
            </a:r>
            <a:endParaRPr lang="en-US" altLang="en-GB" sz="1600"/>
          </a:p>
          <a:p>
            <a:r>
              <a:rPr lang="en-US" altLang="en-GB" sz="1600"/>
              <a:t>        t.track_id</a:t>
            </a:r>
            <a:endParaRPr lang="en-US" altLang="en-GB" sz="1600"/>
          </a:p>
          <a:p>
            <a:r>
              <a:rPr lang="en-US" altLang="en-GB" sz="1600"/>
              <a:t>    FROM Artist AS ar</a:t>
            </a:r>
            <a:endParaRPr lang="en-US" altLang="en-GB" sz="1600"/>
          </a:p>
          <a:p>
            <a:r>
              <a:rPr lang="en-US" altLang="en-GB" sz="1600"/>
              <a:t>    INNER JOIN Album AS al</a:t>
            </a:r>
            <a:endParaRPr lang="en-US" altLang="en-GB" sz="1600"/>
          </a:p>
          <a:p>
            <a:r>
              <a:rPr lang="en-US" altLang="en-GB" sz="1600"/>
              <a:t>	ON ar.artist_id = al.artist_id</a:t>
            </a:r>
            <a:endParaRPr lang="en-US" altLang="en-GB" sz="1600"/>
          </a:p>
          <a:p>
            <a:r>
              <a:rPr lang="en-US" altLang="en-GB" sz="1600"/>
              <a:t>    INNER JOIN Track AS t</a:t>
            </a:r>
            <a:endParaRPr lang="en-US" altLang="en-GB" sz="1600"/>
          </a:p>
          <a:p>
            <a:r>
              <a:rPr lang="en-US" altLang="en-GB" sz="1600"/>
              <a:t>	ON al.album_id = t.album_id</a:t>
            </a:r>
            <a:endParaRPr lang="en-US" altLang="en-GB" sz="1600"/>
          </a:p>
          <a:p>
            <a:r>
              <a:rPr lang="en-US" altLang="en-GB" sz="1600"/>
              <a:t>    INNER JOIN Genre AS g</a:t>
            </a:r>
            <a:endParaRPr lang="en-US" altLang="en-GB" sz="1600"/>
          </a:p>
          <a:p>
            <a:r>
              <a:rPr lang="en-US" altLang="en-GB" sz="1600"/>
              <a:t>	ON t.genre_id = g.genre_id</a:t>
            </a:r>
            <a:endParaRPr lang="en-US" altLang="en-GB" sz="1600"/>
          </a:p>
          <a:p>
            <a:r>
              <a:rPr lang="en-US" altLang="en-GB" sz="1600"/>
              <a:t>    WHERE g.name = 'Rock'</a:t>
            </a:r>
            <a:endParaRPr lang="en-US" altLang="en-GB" sz="1600"/>
          </a:p>
          <a:p>
            <a:r>
              <a:rPr lang="en-US" altLang="en-GB" sz="1600"/>
              <a:t>) AS rock_tracks</a:t>
            </a:r>
            <a:endParaRPr lang="en-US" altLang="en-GB" sz="1600"/>
          </a:p>
          <a:p>
            <a:r>
              <a:rPr lang="en-US" altLang="en-GB" sz="1600"/>
              <a:t>GROUP BY artist_id, artist_name</a:t>
            </a:r>
            <a:endParaRPr lang="en-US" altLang="en-GB" sz="1600"/>
          </a:p>
          <a:p>
            <a:r>
              <a:rPr lang="en-US" altLang="en-GB" sz="1600"/>
              <a:t>ORDER BY rock_track_count DESC</a:t>
            </a:r>
            <a:endParaRPr lang="en-US" altLang="en-GB" sz="1600"/>
          </a:p>
          <a:p>
            <a:r>
              <a:rPr lang="en-US" altLang="en-GB" sz="1600"/>
              <a:t>LIMIT 10;</a:t>
            </a:r>
            <a:endParaRPr lang="en-US" altLang="en-GB" sz="1600"/>
          </a:p>
        </p:txBody>
      </p:sp>
      <p:sp>
        <p:nvSpPr>
          <p:cNvPr id="5" name="Text Box 4"/>
          <p:cNvSpPr txBox="1"/>
          <p:nvPr/>
        </p:nvSpPr>
        <p:spPr>
          <a:xfrm>
            <a:off x="6817995" y="4570730"/>
            <a:ext cx="4891405" cy="1322070"/>
          </a:xfrm>
          <a:prstGeom prst="rect">
            <a:avLst/>
          </a:prstGeom>
          <a:noFill/>
        </p:spPr>
        <p:txBody>
          <a:bodyPr wrap="square" rtlCol="0" anchor="t">
            <a:spAutoFit/>
          </a:bodyPr>
          <a:p>
            <a:pPr algn="just"/>
            <a:r>
              <a:rPr lang="en-IN" altLang="en-US" sz="1600" b="1">
                <a:solidFill>
                  <a:srgbClr val="C00000"/>
                </a:solidFill>
              </a:rPr>
              <a:t>Insight:</a:t>
            </a:r>
            <a:endParaRPr lang="en-IN" altLang="en-US" sz="1600" b="1">
              <a:solidFill>
                <a:srgbClr val="C00000"/>
              </a:solidFill>
            </a:endParaRPr>
          </a:p>
          <a:p>
            <a:pPr algn="just"/>
            <a:r>
              <a:rPr lang="en-US" altLang="en-GB" sz="1600"/>
              <a:t>Shows which artists have the largest number of Rock tracks in the catalog.These artists have strong representation in the Rock inventory and may be useful for genre-focused promotions.</a:t>
            </a:r>
            <a:endParaRPr lang="en-US" altLang="en-GB" sz="1600"/>
          </a:p>
        </p:txBody>
      </p:sp>
      <p:pic>
        <p:nvPicPr>
          <p:cNvPr id="4" name="Picture 3"/>
          <p:cNvPicPr>
            <a:picLocks noChangeAspect="1"/>
          </p:cNvPicPr>
          <p:nvPr/>
        </p:nvPicPr>
        <p:blipFill>
          <a:blip r:embed="rId1"/>
          <a:stretch>
            <a:fillRect/>
          </a:stretch>
        </p:blipFill>
        <p:spPr>
          <a:xfrm>
            <a:off x="6817995" y="1826260"/>
            <a:ext cx="3176905" cy="2390140"/>
          </a:xfrm>
          <a:prstGeom prst="rect">
            <a:avLst/>
          </a:prstGeom>
        </p:spPr>
      </p:pic>
      <p:sp>
        <p:nvSpPr>
          <p:cNvPr id="6" name="Text Box 5"/>
          <p:cNvSpPr txBox="1"/>
          <p:nvPr/>
        </p:nvSpPr>
        <p:spPr>
          <a:xfrm>
            <a:off x="6817995" y="1278255"/>
            <a:ext cx="1196975" cy="337185"/>
          </a:xfrm>
          <a:prstGeom prst="rect">
            <a:avLst/>
          </a:prstGeom>
          <a:noFill/>
        </p:spPr>
        <p:txBody>
          <a:bodyPr wrap="square" rtlCol="0" anchor="t">
            <a:spAutoFit/>
          </a:bodyPr>
          <a:p>
            <a:r>
              <a:rPr lang="en-IN" altLang="en-US" sz="1600" b="1">
                <a:solidFill>
                  <a:srgbClr val="C00000"/>
                </a:solidFill>
                <a:sym typeface="+mn-ea"/>
              </a:rPr>
              <a:t>Output:</a:t>
            </a:r>
            <a:endParaRPr lang="en-IN" altLang="en-US" sz="1600" b="1">
              <a:solidFill>
                <a:srgbClr val="C00000"/>
              </a:solidFill>
              <a:sym typeface="+mn-ea"/>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753110" y="675640"/>
            <a:ext cx="10513060" cy="521970"/>
          </a:xfrm>
          <a:prstGeom prst="rect">
            <a:avLst/>
          </a:prstGeom>
          <a:noFill/>
        </p:spPr>
        <p:txBody>
          <a:bodyPr wrap="square" rtlCol="0" anchor="t">
            <a:spAutoFit/>
          </a:bodyPr>
          <a:p>
            <a:r>
              <a:rPr lang="en-US" altLang="en-GB" b="1">
                <a:solidFill>
                  <a:srgbClr val="C00000"/>
                </a:solidFill>
              </a:rPr>
              <a:t> </a:t>
            </a:r>
            <a:r>
              <a:rPr lang="en-IN" altLang="en-US" b="1">
                <a:solidFill>
                  <a:srgbClr val="C00000"/>
                </a:solidFill>
              </a:rPr>
              <a:t>7. </a:t>
            </a:r>
            <a:r>
              <a:rPr lang="en-US" altLang="en-GB" b="1">
                <a:solidFill>
                  <a:srgbClr val="C00000"/>
                </a:solidFill>
              </a:rPr>
              <a:t>Return all the track names that have a song length longer than the average song length.- Return the Name and Milliseconds for each track. Order by the song length, with the longest songs listed first  </a:t>
            </a:r>
            <a:endParaRPr lang="en-US" altLang="en-GB" b="1">
              <a:solidFill>
                <a:srgbClr val="C00000"/>
              </a:solidFill>
            </a:endParaRPr>
          </a:p>
        </p:txBody>
      </p:sp>
      <p:sp>
        <p:nvSpPr>
          <p:cNvPr id="3" name="Text Box 2"/>
          <p:cNvSpPr txBox="1"/>
          <p:nvPr/>
        </p:nvSpPr>
        <p:spPr>
          <a:xfrm>
            <a:off x="878205" y="1600200"/>
            <a:ext cx="4543425" cy="2306955"/>
          </a:xfrm>
          <a:prstGeom prst="rect">
            <a:avLst/>
          </a:prstGeom>
          <a:noFill/>
          <a:ln>
            <a:solidFill>
              <a:schemeClr val="tx1"/>
            </a:solidFill>
          </a:ln>
        </p:spPr>
        <p:txBody>
          <a:bodyPr wrap="square" rtlCol="0" anchor="t">
            <a:spAutoFit/>
          </a:bodyPr>
          <a:p>
            <a:r>
              <a:rPr lang="en-US" altLang="en-GB" sz="1600"/>
              <a:t>SELECT</a:t>
            </a:r>
            <a:endParaRPr lang="en-US" altLang="en-GB" sz="1600"/>
          </a:p>
          <a:p>
            <a:pPr indent="457200"/>
            <a:r>
              <a:rPr lang="en-US" altLang="en-GB" sz="1600"/>
              <a:t>name AS track_name,</a:t>
            </a:r>
            <a:endParaRPr lang="en-US" altLang="en-GB" sz="1600"/>
          </a:p>
          <a:p>
            <a:pPr indent="457200"/>
            <a:r>
              <a:rPr lang="en-US" altLang="en-GB" sz="1600"/>
              <a:t>milliseconds</a:t>
            </a:r>
            <a:endParaRPr lang="en-US" altLang="en-GB" sz="1600"/>
          </a:p>
          <a:p>
            <a:r>
              <a:rPr lang="en-US" altLang="en-GB" sz="1600"/>
              <a:t>FROM Track</a:t>
            </a:r>
            <a:endParaRPr lang="en-US" altLang="en-GB" sz="1600"/>
          </a:p>
          <a:p>
            <a:r>
              <a:rPr lang="en-US" altLang="en-GB" sz="1600"/>
              <a:t>WHERE milliseconds &gt; (</a:t>
            </a:r>
            <a:endParaRPr lang="en-US" altLang="en-GB" sz="1600"/>
          </a:p>
          <a:p>
            <a:pPr indent="457200"/>
            <a:r>
              <a:rPr lang="en-US" altLang="en-GB" sz="1600"/>
              <a:t>SELECT AVG(milliseconds)</a:t>
            </a:r>
            <a:endParaRPr lang="en-US" altLang="en-GB" sz="1600"/>
          </a:p>
          <a:p>
            <a:pPr indent="457200"/>
            <a:r>
              <a:rPr lang="en-US" altLang="en-GB" sz="1600"/>
              <a:t>FROM Track</a:t>
            </a:r>
            <a:endParaRPr lang="en-US" altLang="en-GB" sz="1600"/>
          </a:p>
          <a:p>
            <a:r>
              <a:rPr lang="en-US" altLang="en-GB" sz="1600"/>
              <a:t>	)</a:t>
            </a:r>
            <a:endParaRPr lang="en-US" altLang="en-GB" sz="1600"/>
          </a:p>
          <a:p>
            <a:r>
              <a:rPr lang="en-US" altLang="en-GB" sz="1600"/>
              <a:t>ORDER BY milliseconds DESC;</a:t>
            </a:r>
            <a:endParaRPr lang="en-US" altLang="en-GB" sz="1600"/>
          </a:p>
        </p:txBody>
      </p:sp>
      <p:sp>
        <p:nvSpPr>
          <p:cNvPr id="5" name="Text Box 4"/>
          <p:cNvSpPr txBox="1"/>
          <p:nvPr/>
        </p:nvSpPr>
        <p:spPr>
          <a:xfrm>
            <a:off x="753110" y="4599305"/>
            <a:ext cx="5913120" cy="1076325"/>
          </a:xfrm>
          <a:prstGeom prst="rect">
            <a:avLst/>
          </a:prstGeom>
          <a:noFill/>
        </p:spPr>
        <p:txBody>
          <a:bodyPr wrap="square" rtlCol="0" anchor="t">
            <a:spAutoFit/>
          </a:bodyPr>
          <a:p>
            <a:r>
              <a:rPr lang="en-IN" altLang="en-US" sz="1600" b="1">
                <a:solidFill>
                  <a:srgbClr val="C00000"/>
                </a:solidFill>
              </a:rPr>
              <a:t>Insight:</a:t>
            </a:r>
            <a:endParaRPr lang="en-IN" altLang="en-US" sz="1600" b="1">
              <a:solidFill>
                <a:srgbClr val="C00000"/>
              </a:solidFill>
            </a:endParaRPr>
          </a:p>
          <a:p>
            <a:pPr algn="just"/>
            <a:r>
              <a:rPr lang="en-US" altLang="en-GB" sz="1600"/>
              <a:t>Identifies songs that are longer than the overall average track duration. Helps identify the longer songs in the music catalog for further analysis of customer listening patterns.</a:t>
            </a:r>
            <a:endParaRPr lang="en-US" altLang="en-GB" sz="1600"/>
          </a:p>
        </p:txBody>
      </p:sp>
      <p:pic>
        <p:nvPicPr>
          <p:cNvPr id="4" name="Picture 3"/>
          <p:cNvPicPr>
            <a:picLocks noChangeAspect="1"/>
          </p:cNvPicPr>
          <p:nvPr/>
        </p:nvPicPr>
        <p:blipFill>
          <a:blip r:embed="rId1"/>
          <a:stretch>
            <a:fillRect/>
          </a:stretch>
        </p:blipFill>
        <p:spPr>
          <a:xfrm>
            <a:off x="7774940" y="2165985"/>
            <a:ext cx="2971800" cy="2717165"/>
          </a:xfrm>
          <a:prstGeom prst="rect">
            <a:avLst/>
          </a:prstGeom>
        </p:spPr>
      </p:pic>
      <p:sp>
        <p:nvSpPr>
          <p:cNvPr id="6" name="Text Box 5"/>
          <p:cNvSpPr txBox="1"/>
          <p:nvPr/>
        </p:nvSpPr>
        <p:spPr>
          <a:xfrm>
            <a:off x="7774940" y="1600200"/>
            <a:ext cx="1196975" cy="337185"/>
          </a:xfrm>
          <a:prstGeom prst="rect">
            <a:avLst/>
          </a:prstGeom>
          <a:noFill/>
        </p:spPr>
        <p:txBody>
          <a:bodyPr wrap="square" rtlCol="0" anchor="t">
            <a:spAutoFit/>
          </a:bodyPr>
          <a:p>
            <a:r>
              <a:rPr lang="en-IN" altLang="en-US" sz="1600" b="1">
                <a:solidFill>
                  <a:srgbClr val="C00000"/>
                </a:solidFill>
                <a:sym typeface="+mn-ea"/>
              </a:rPr>
              <a:t>Output:</a:t>
            </a:r>
            <a:endParaRPr lang="en-IN" altLang="en-US" sz="1600" b="1">
              <a:solidFill>
                <a:srgbClr val="C00000"/>
              </a:solidFill>
              <a:sym typeface="+mn-ea"/>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675640" y="424815"/>
            <a:ext cx="10513060" cy="521970"/>
          </a:xfrm>
          <a:prstGeom prst="rect">
            <a:avLst/>
          </a:prstGeom>
          <a:noFill/>
        </p:spPr>
        <p:txBody>
          <a:bodyPr wrap="square" rtlCol="0" anchor="t">
            <a:spAutoFit/>
          </a:bodyPr>
          <a:p>
            <a:r>
              <a:rPr lang="en-IN" altLang="en-US" b="1">
                <a:solidFill>
                  <a:srgbClr val="C00000"/>
                </a:solidFill>
              </a:rPr>
              <a:t>8</a:t>
            </a:r>
            <a:r>
              <a:rPr lang="en-US" altLang="en-GB" b="1">
                <a:solidFill>
                  <a:srgbClr val="C00000"/>
                </a:solidFill>
              </a:rPr>
              <a:t>. Find how much amount is spent by each customer on artists? Write a query to return customer name, artist name and total spent </a:t>
            </a:r>
            <a:endParaRPr lang="en-US" altLang="en-GB" b="1">
              <a:solidFill>
                <a:srgbClr val="C00000"/>
              </a:solidFill>
            </a:endParaRPr>
          </a:p>
        </p:txBody>
      </p:sp>
      <p:sp>
        <p:nvSpPr>
          <p:cNvPr id="3" name="Text Box 2"/>
          <p:cNvSpPr txBox="1"/>
          <p:nvPr/>
        </p:nvSpPr>
        <p:spPr>
          <a:xfrm>
            <a:off x="598805" y="946785"/>
            <a:ext cx="5917565" cy="4564380"/>
          </a:xfrm>
          <a:prstGeom prst="rect">
            <a:avLst/>
          </a:prstGeom>
          <a:noFill/>
          <a:ln>
            <a:solidFill>
              <a:schemeClr val="tx1"/>
            </a:solidFill>
          </a:ln>
        </p:spPr>
        <p:txBody>
          <a:bodyPr wrap="square" rtlCol="0" anchor="t">
            <a:noAutofit/>
          </a:bodyPr>
          <a:p>
            <a:r>
              <a:rPr lang="en-US" altLang="en-GB" sz="1600"/>
              <a:t>CREATE VIEW customer_artist_purchases AS</a:t>
            </a:r>
            <a:endParaRPr lang="en-US" altLang="en-GB" sz="1600"/>
          </a:p>
          <a:p>
            <a:r>
              <a:rPr lang="en-US" altLang="en-GB" sz="1600"/>
              <a:t>SELECT</a:t>
            </a:r>
            <a:endParaRPr lang="en-US" altLang="en-GB" sz="1600"/>
          </a:p>
          <a:p>
            <a:r>
              <a:rPr lang="en-US" altLang="en-GB" sz="1600"/>
              <a:t>    c.customer_id,</a:t>
            </a:r>
            <a:endParaRPr lang="en-US" altLang="en-GB" sz="1600"/>
          </a:p>
          <a:p>
            <a:r>
              <a:rPr lang="en-US" altLang="en-GB" sz="1600"/>
              <a:t>    CONCAT(c.first_name, ' ', c.last_name) AS customer_name,</a:t>
            </a:r>
            <a:endParaRPr lang="en-US" altLang="en-GB" sz="1600"/>
          </a:p>
          <a:p>
            <a:r>
              <a:rPr lang="en-US" altLang="en-GB" sz="1600"/>
              <a:t>    ar.artist_id,</a:t>
            </a:r>
            <a:endParaRPr lang="en-US" altLang="en-GB" sz="1600"/>
          </a:p>
          <a:p>
            <a:r>
              <a:rPr lang="en-US" altLang="en-GB" sz="1600"/>
              <a:t>    ar.name AS artist_name,</a:t>
            </a:r>
            <a:endParaRPr lang="en-US" altLang="en-GB" sz="1600"/>
          </a:p>
          <a:p>
            <a:r>
              <a:rPr lang="en-US" altLang="en-GB" sz="1600"/>
              <a:t>    il.unit_price * il.quantity AS amount</a:t>
            </a:r>
            <a:endParaRPr lang="en-US" altLang="en-GB" sz="1600"/>
          </a:p>
          <a:p>
            <a:r>
              <a:rPr lang="en-US" altLang="en-GB" sz="1600"/>
              <a:t>FROM Customer AS c</a:t>
            </a:r>
            <a:endParaRPr lang="en-US" altLang="en-GB" sz="1600"/>
          </a:p>
          <a:p>
            <a:r>
              <a:rPr lang="en-US" altLang="en-GB" sz="1600"/>
              <a:t>INNER JOIN Invoice AS i</a:t>
            </a:r>
            <a:endParaRPr lang="en-US" altLang="en-GB" sz="1600"/>
          </a:p>
          <a:p>
            <a:r>
              <a:rPr lang="en-US" altLang="en-GB" sz="1600"/>
              <a:t>ON c.customer_id = i.customer_id</a:t>
            </a:r>
            <a:endParaRPr lang="en-US" altLang="en-GB" sz="1600"/>
          </a:p>
          <a:p>
            <a:r>
              <a:rPr lang="en-US" altLang="en-GB" sz="1600"/>
              <a:t>INNER JOIN InvoiceLine AS il</a:t>
            </a:r>
            <a:endParaRPr lang="en-US" altLang="en-GB" sz="1600"/>
          </a:p>
          <a:p>
            <a:r>
              <a:rPr lang="en-US" altLang="en-GB" sz="1600"/>
              <a:t>ON i.invoice_id = il.invoice_id</a:t>
            </a:r>
            <a:endParaRPr lang="en-US" altLang="en-GB" sz="1600"/>
          </a:p>
          <a:p>
            <a:r>
              <a:rPr lang="en-US" altLang="en-GB" sz="1600"/>
              <a:t>INNER JOIN Track AS t</a:t>
            </a:r>
            <a:endParaRPr lang="en-US" altLang="en-GB" sz="1600"/>
          </a:p>
          <a:p>
            <a:r>
              <a:rPr lang="en-US" altLang="en-GB" sz="1600"/>
              <a:t>ON il.track_id = t.track_id</a:t>
            </a:r>
            <a:endParaRPr lang="en-US" altLang="en-GB" sz="1600"/>
          </a:p>
          <a:p>
            <a:r>
              <a:rPr lang="en-US" altLang="en-GB" sz="1600"/>
              <a:t>INNER JOIN Album AS al</a:t>
            </a:r>
            <a:endParaRPr lang="en-US" altLang="en-GB" sz="1600"/>
          </a:p>
          <a:p>
            <a:r>
              <a:rPr lang="en-US" altLang="en-GB" sz="1600"/>
              <a:t>ON t.album_id = al.album_id</a:t>
            </a:r>
            <a:endParaRPr lang="en-US" altLang="en-GB" sz="1600"/>
          </a:p>
          <a:p>
            <a:r>
              <a:rPr lang="en-US" altLang="en-GB" sz="1600"/>
              <a:t>INNER JOIN Artist AS ar</a:t>
            </a:r>
            <a:endParaRPr lang="en-US" altLang="en-GB" sz="1600"/>
          </a:p>
          <a:p>
            <a:r>
              <a:rPr lang="en-US" altLang="en-GB" sz="1600"/>
              <a:t>ON al.artist_id = ar.artist_id;</a:t>
            </a:r>
            <a:endParaRPr lang="en-US" altLang="en-GB" sz="1600"/>
          </a:p>
        </p:txBody>
      </p:sp>
      <p:sp>
        <p:nvSpPr>
          <p:cNvPr id="5" name="Text Box 4"/>
          <p:cNvSpPr txBox="1"/>
          <p:nvPr/>
        </p:nvSpPr>
        <p:spPr>
          <a:xfrm>
            <a:off x="525780" y="5607050"/>
            <a:ext cx="7187565" cy="1076325"/>
          </a:xfrm>
          <a:prstGeom prst="rect">
            <a:avLst/>
          </a:prstGeom>
          <a:noFill/>
        </p:spPr>
        <p:txBody>
          <a:bodyPr wrap="square" rtlCol="0" anchor="t">
            <a:spAutoFit/>
          </a:bodyPr>
          <a:p>
            <a:r>
              <a:rPr lang="en-IN" altLang="en-US" sz="1600" b="1">
                <a:solidFill>
                  <a:srgbClr val="C00000"/>
                </a:solidFill>
              </a:rPr>
              <a:t>Insight:</a:t>
            </a:r>
            <a:endParaRPr lang="en-IN" altLang="en-US" sz="1600" b="1">
              <a:solidFill>
                <a:srgbClr val="C00000"/>
              </a:solidFill>
            </a:endParaRPr>
          </a:p>
          <a:p>
            <a:pPr algn="l"/>
            <a:r>
              <a:rPr lang="en-IN" altLang="en-US" sz="1600"/>
              <a:t>H</a:t>
            </a:r>
            <a:r>
              <a:rPr lang="en-US" altLang="en-GB" sz="1600"/>
              <a:t>ow much each customer spends on individual artists, revealing customer–artist purchasing patterns. This can support personalized recommendations and artist-specific marketing.</a:t>
            </a:r>
            <a:endParaRPr lang="en-US" altLang="en-GB" sz="1600"/>
          </a:p>
        </p:txBody>
      </p:sp>
      <p:sp>
        <p:nvSpPr>
          <p:cNvPr id="4" name="Text Box 3"/>
          <p:cNvSpPr txBox="1"/>
          <p:nvPr/>
        </p:nvSpPr>
        <p:spPr>
          <a:xfrm>
            <a:off x="7166610" y="946785"/>
            <a:ext cx="3713480" cy="3046095"/>
          </a:xfrm>
          <a:prstGeom prst="rect">
            <a:avLst/>
          </a:prstGeom>
          <a:noFill/>
          <a:ln>
            <a:solidFill>
              <a:schemeClr val="tx1"/>
            </a:solidFill>
          </a:ln>
        </p:spPr>
        <p:txBody>
          <a:bodyPr wrap="square" rtlCol="0" anchor="t">
            <a:spAutoFit/>
          </a:bodyPr>
          <a:p>
            <a:r>
              <a:rPr lang="en-US" altLang="en-GB" sz="1600"/>
              <a:t>#view query ----------------------------</a:t>
            </a:r>
            <a:endParaRPr lang="en-US" altLang="en-GB" sz="1600"/>
          </a:p>
          <a:p>
            <a:r>
              <a:rPr lang="en-US" altLang="en-GB" sz="1600"/>
              <a:t>SELECT</a:t>
            </a:r>
            <a:endParaRPr lang="en-US" altLang="en-GB" sz="1600"/>
          </a:p>
          <a:p>
            <a:r>
              <a:rPr lang="en-US" altLang="en-GB" sz="1600"/>
              <a:t>    customer_name,</a:t>
            </a:r>
            <a:endParaRPr lang="en-US" altLang="en-GB" sz="1600"/>
          </a:p>
          <a:p>
            <a:r>
              <a:rPr lang="en-US" altLang="en-GB" sz="1600"/>
              <a:t>    artist_name,</a:t>
            </a:r>
            <a:endParaRPr lang="en-US" altLang="en-GB" sz="1600"/>
          </a:p>
          <a:p>
            <a:r>
              <a:rPr lang="en-US" altLang="en-GB" sz="1600"/>
              <a:t>    SUM(amount) AS total_spent</a:t>
            </a:r>
            <a:endParaRPr lang="en-US" altLang="en-GB" sz="1600"/>
          </a:p>
          <a:p>
            <a:r>
              <a:rPr lang="en-US" altLang="en-GB" sz="1600"/>
              <a:t>FROM customer_artist_purchases</a:t>
            </a:r>
            <a:endParaRPr lang="en-US" altLang="en-GB" sz="1600"/>
          </a:p>
          <a:p>
            <a:r>
              <a:rPr lang="en-US" altLang="en-GB" sz="1600"/>
              <a:t>GROUP BY</a:t>
            </a:r>
            <a:endParaRPr lang="en-US" altLang="en-GB" sz="1600"/>
          </a:p>
          <a:p>
            <a:r>
              <a:rPr lang="en-US" altLang="en-GB" sz="1600"/>
              <a:t>    customer_id,</a:t>
            </a:r>
            <a:endParaRPr lang="en-US" altLang="en-GB" sz="1600"/>
          </a:p>
          <a:p>
            <a:r>
              <a:rPr lang="en-US" altLang="en-GB" sz="1600"/>
              <a:t>    customer_name,</a:t>
            </a:r>
            <a:endParaRPr lang="en-US" altLang="en-GB" sz="1600"/>
          </a:p>
          <a:p>
            <a:r>
              <a:rPr lang="en-US" altLang="en-GB" sz="1600"/>
              <a:t>    artist_id,</a:t>
            </a:r>
            <a:endParaRPr lang="en-US" altLang="en-GB" sz="1600"/>
          </a:p>
          <a:p>
            <a:r>
              <a:rPr lang="en-US" altLang="en-GB" sz="1600"/>
              <a:t>    artist_name</a:t>
            </a:r>
            <a:endParaRPr lang="en-US" altLang="en-GB" sz="1600"/>
          </a:p>
          <a:p>
            <a:r>
              <a:rPr lang="en-US" altLang="en-GB" sz="1600"/>
              <a:t>ORDER BY total_spent DESC;</a:t>
            </a:r>
            <a:endParaRPr lang="en-GB" altLang="en-US" sz="1600"/>
          </a:p>
        </p:txBody>
      </p:sp>
      <p:pic>
        <p:nvPicPr>
          <p:cNvPr id="7" name="Picture 6"/>
          <p:cNvPicPr>
            <a:picLocks noChangeAspect="1"/>
          </p:cNvPicPr>
          <p:nvPr/>
        </p:nvPicPr>
        <p:blipFill>
          <a:blip r:embed="rId1"/>
          <a:stretch>
            <a:fillRect/>
          </a:stretch>
        </p:blipFill>
        <p:spPr>
          <a:xfrm>
            <a:off x="7166610" y="4784090"/>
            <a:ext cx="4540885" cy="1073150"/>
          </a:xfrm>
          <a:prstGeom prst="rect">
            <a:avLst/>
          </a:prstGeom>
        </p:spPr>
      </p:pic>
      <p:sp>
        <p:nvSpPr>
          <p:cNvPr id="8" name="Text Box 7"/>
          <p:cNvSpPr txBox="1"/>
          <p:nvPr/>
        </p:nvSpPr>
        <p:spPr>
          <a:xfrm>
            <a:off x="7099300" y="4347845"/>
            <a:ext cx="1196975" cy="337185"/>
          </a:xfrm>
          <a:prstGeom prst="rect">
            <a:avLst/>
          </a:prstGeom>
          <a:noFill/>
        </p:spPr>
        <p:txBody>
          <a:bodyPr wrap="square" rtlCol="0" anchor="t">
            <a:spAutoFit/>
          </a:bodyPr>
          <a:p>
            <a:r>
              <a:rPr lang="en-IN" altLang="en-US" sz="1600" b="1">
                <a:solidFill>
                  <a:srgbClr val="C00000"/>
                </a:solidFill>
                <a:sym typeface="+mn-ea"/>
              </a:rPr>
              <a:t>Output:</a:t>
            </a:r>
            <a:endParaRPr lang="en-IN" altLang="en-US" sz="1600" b="1">
              <a:solidFill>
                <a:srgbClr val="C00000"/>
              </a:solidFill>
              <a:sym typeface="+mn-ea"/>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453390" y="238760"/>
            <a:ext cx="11400155" cy="521970"/>
          </a:xfrm>
          <a:prstGeom prst="rect">
            <a:avLst/>
          </a:prstGeom>
          <a:noFill/>
        </p:spPr>
        <p:txBody>
          <a:bodyPr wrap="square" rtlCol="0" anchor="t">
            <a:spAutoFit/>
          </a:bodyPr>
          <a:p>
            <a:r>
              <a:rPr lang="en-IN" altLang="en-US" b="1">
                <a:solidFill>
                  <a:srgbClr val="C00000"/>
                </a:solidFill>
              </a:rPr>
              <a:t>9</a:t>
            </a:r>
            <a:r>
              <a:rPr lang="en-US" altLang="en-GB" b="1">
                <a:solidFill>
                  <a:srgbClr val="C00000"/>
                </a:solidFill>
              </a:rPr>
              <a:t>.  Write a query that returns each country along with the top Genre. For countries where the maximum number of purchases is shared, return all Genres  </a:t>
            </a:r>
            <a:r>
              <a:rPr lang="en-IN" altLang="en-US" b="1">
                <a:solidFill>
                  <a:srgbClr val="C00000"/>
                </a:solidFill>
              </a:rPr>
              <a:t>.</a:t>
            </a:r>
            <a:r>
              <a:rPr lang="en-US" altLang="en-GB" b="1">
                <a:solidFill>
                  <a:srgbClr val="C00000"/>
                </a:solidFill>
                <a:sym typeface="+mn-ea"/>
              </a:rPr>
              <a:t> We determine the most popular genre as the genre with the highest amount of purchases.</a:t>
            </a:r>
            <a:endParaRPr lang="en-IN" altLang="en-US" b="1">
              <a:solidFill>
                <a:srgbClr val="C00000"/>
              </a:solidFill>
            </a:endParaRPr>
          </a:p>
        </p:txBody>
      </p:sp>
      <p:sp>
        <p:nvSpPr>
          <p:cNvPr id="3" name="Text Box 2"/>
          <p:cNvSpPr txBox="1"/>
          <p:nvPr/>
        </p:nvSpPr>
        <p:spPr>
          <a:xfrm>
            <a:off x="598805" y="885825"/>
            <a:ext cx="5420360" cy="5807710"/>
          </a:xfrm>
          <a:prstGeom prst="rect">
            <a:avLst/>
          </a:prstGeom>
          <a:noFill/>
          <a:ln>
            <a:solidFill>
              <a:schemeClr val="tx1"/>
            </a:solidFill>
          </a:ln>
        </p:spPr>
        <p:txBody>
          <a:bodyPr wrap="square" rtlCol="0" anchor="t">
            <a:noAutofit/>
          </a:bodyPr>
          <a:p>
            <a:r>
              <a:rPr lang="en-US" altLang="en-GB" sz="1600"/>
              <a:t>WITH genre_purchases AS (</a:t>
            </a:r>
            <a:endParaRPr lang="en-US" altLang="en-GB" sz="1600"/>
          </a:p>
          <a:p>
            <a:r>
              <a:rPr lang="en-US" altLang="en-GB" sz="1600"/>
              <a:t>    SELECT</a:t>
            </a:r>
            <a:endParaRPr lang="en-US" altLang="en-GB" sz="1600"/>
          </a:p>
          <a:p>
            <a:r>
              <a:rPr lang="en-US" altLang="en-GB" sz="1600"/>
              <a:t>        i.billing_country AS country,</a:t>
            </a:r>
            <a:endParaRPr lang="en-US" altLang="en-GB" sz="1600"/>
          </a:p>
          <a:p>
            <a:r>
              <a:rPr lang="en-US" altLang="en-GB" sz="1600"/>
              <a:t>        g.name AS genre,</a:t>
            </a:r>
            <a:endParaRPr lang="en-US" altLang="en-GB" sz="1600"/>
          </a:p>
          <a:p>
            <a:r>
              <a:rPr lang="en-US" altLang="en-GB" sz="1600"/>
              <a:t>        COUNT(il.invoice_line_id) AS purchase_count</a:t>
            </a:r>
            <a:endParaRPr lang="en-US" altLang="en-GB" sz="1600"/>
          </a:p>
          <a:p>
            <a:r>
              <a:rPr lang="en-US" altLang="en-GB" sz="1600"/>
              <a:t>    FROM Invoice AS i</a:t>
            </a:r>
            <a:endParaRPr lang="en-US" altLang="en-GB" sz="1600"/>
          </a:p>
          <a:p>
            <a:r>
              <a:rPr lang="en-US" altLang="en-GB" sz="1600"/>
              <a:t>    JOIN InvoiceLine AS il</a:t>
            </a:r>
            <a:endParaRPr lang="en-US" altLang="en-GB" sz="1600"/>
          </a:p>
          <a:p>
            <a:r>
              <a:rPr lang="en-US" altLang="en-GB" sz="1600"/>
              <a:t>        ON i.invoice_id = il.invoice_id</a:t>
            </a:r>
            <a:endParaRPr lang="en-US" altLang="en-GB" sz="1600"/>
          </a:p>
          <a:p>
            <a:r>
              <a:rPr lang="en-US" altLang="en-GB" sz="1600"/>
              <a:t>    JOIN Track AS t</a:t>
            </a:r>
            <a:endParaRPr lang="en-US" altLang="en-GB" sz="1600"/>
          </a:p>
          <a:p>
            <a:r>
              <a:rPr lang="en-US" altLang="en-GB" sz="1600"/>
              <a:t>        ON il.track_id = t.track_id</a:t>
            </a:r>
            <a:endParaRPr lang="en-US" altLang="en-GB" sz="1600"/>
          </a:p>
          <a:p>
            <a:r>
              <a:rPr lang="en-US" altLang="en-GB" sz="1600"/>
              <a:t>    JOIN Genre AS g</a:t>
            </a:r>
            <a:endParaRPr lang="en-US" altLang="en-GB" sz="1600"/>
          </a:p>
          <a:p>
            <a:r>
              <a:rPr lang="en-US" altLang="en-GB" sz="1600"/>
              <a:t>        ON t.genre_id = g.genre_id</a:t>
            </a:r>
            <a:endParaRPr lang="en-US" altLang="en-GB" sz="1600"/>
          </a:p>
          <a:p>
            <a:r>
              <a:rPr lang="en-US" altLang="en-GB" sz="1600"/>
              <a:t>    GROUP BY</a:t>
            </a:r>
            <a:endParaRPr lang="en-US" altLang="en-GB" sz="1600"/>
          </a:p>
          <a:p>
            <a:r>
              <a:rPr lang="en-US" altLang="en-GB" sz="1600"/>
              <a:t>        i.billing_country,</a:t>
            </a:r>
            <a:endParaRPr lang="en-US" altLang="en-GB" sz="1600"/>
          </a:p>
          <a:p>
            <a:r>
              <a:rPr lang="en-US" altLang="en-GB" sz="1600"/>
              <a:t>        g.name</a:t>
            </a:r>
            <a:endParaRPr lang="en-US" altLang="en-GB" sz="1600"/>
          </a:p>
          <a:p>
            <a:r>
              <a:rPr lang="en-IN" altLang="en-US" sz="1600"/>
              <a:t>),</a:t>
            </a:r>
            <a:endParaRPr lang="en-IN" altLang="en-US" sz="1600"/>
          </a:p>
          <a:p>
            <a:r>
              <a:rPr lang="en-US" altLang="en-GB" sz="1600"/>
              <a:t>max_purchases AS (</a:t>
            </a:r>
            <a:endParaRPr lang="en-US" altLang="en-GB" sz="1600"/>
          </a:p>
          <a:p>
            <a:r>
              <a:rPr lang="en-US" altLang="en-GB" sz="1600"/>
              <a:t>    SELECT</a:t>
            </a:r>
            <a:endParaRPr lang="en-US" altLang="en-GB" sz="1600"/>
          </a:p>
          <a:p>
            <a:r>
              <a:rPr lang="en-US" altLang="en-GB" sz="1600"/>
              <a:t>        country,</a:t>
            </a:r>
            <a:endParaRPr lang="en-US" altLang="en-GB" sz="1600"/>
          </a:p>
          <a:p>
            <a:r>
              <a:rPr lang="en-US" altLang="en-GB" sz="1600"/>
              <a:t>        MAX(purchase_count) AS max_purchase_count</a:t>
            </a:r>
            <a:endParaRPr lang="en-US" altLang="en-GB" sz="1600"/>
          </a:p>
          <a:p>
            <a:r>
              <a:rPr lang="en-US" altLang="en-GB" sz="1600"/>
              <a:t>    FROM genre_purchases</a:t>
            </a:r>
            <a:endParaRPr lang="en-US" altLang="en-GB" sz="1600"/>
          </a:p>
          <a:p>
            <a:r>
              <a:rPr lang="en-US" altLang="en-GB" sz="1600"/>
              <a:t>    GROUP BY country</a:t>
            </a:r>
            <a:endParaRPr lang="en-US" altLang="en-GB" sz="1600"/>
          </a:p>
          <a:p>
            <a:r>
              <a:rPr lang="en-US" altLang="en-GB" sz="1600"/>
              <a:t>)</a:t>
            </a:r>
            <a:endParaRPr lang="en-US" altLang="en-GB" sz="1600"/>
          </a:p>
          <a:p>
            <a:endParaRPr lang="en-US" altLang="en-GB" sz="1600"/>
          </a:p>
        </p:txBody>
      </p:sp>
      <p:sp>
        <p:nvSpPr>
          <p:cNvPr id="5" name="Text Box 4"/>
          <p:cNvSpPr txBox="1"/>
          <p:nvPr/>
        </p:nvSpPr>
        <p:spPr>
          <a:xfrm>
            <a:off x="6163310" y="4528820"/>
            <a:ext cx="5757545" cy="1322070"/>
          </a:xfrm>
          <a:prstGeom prst="rect">
            <a:avLst/>
          </a:prstGeom>
          <a:noFill/>
        </p:spPr>
        <p:txBody>
          <a:bodyPr wrap="square" rtlCol="0" anchor="t">
            <a:spAutoFit/>
          </a:bodyPr>
          <a:p>
            <a:r>
              <a:rPr lang="en-IN" altLang="en-US" sz="1600" b="1">
                <a:solidFill>
                  <a:srgbClr val="C00000"/>
                </a:solidFill>
              </a:rPr>
              <a:t>Insight:</a:t>
            </a:r>
            <a:endParaRPr lang="en-IN" altLang="en-US" sz="1600" b="1">
              <a:solidFill>
                <a:srgbClr val="C00000"/>
              </a:solidFill>
            </a:endParaRPr>
          </a:p>
          <a:p>
            <a:pPr algn="l"/>
            <a:r>
              <a:rPr lang="en-US" altLang="en-GB" sz="1600"/>
              <a:t>Identifies the most purchased genre in each country, revealing differences in music preferences across markets. Shared rankings also show where customer demand is distributed across multiple genres.</a:t>
            </a:r>
            <a:endParaRPr lang="en-US" altLang="en-GB" sz="1600"/>
          </a:p>
        </p:txBody>
      </p:sp>
      <p:sp>
        <p:nvSpPr>
          <p:cNvPr id="4" name="Text Box 3"/>
          <p:cNvSpPr txBox="1"/>
          <p:nvPr/>
        </p:nvSpPr>
        <p:spPr>
          <a:xfrm>
            <a:off x="6289040" y="885825"/>
            <a:ext cx="5324475" cy="2306955"/>
          </a:xfrm>
          <a:prstGeom prst="rect">
            <a:avLst/>
          </a:prstGeom>
          <a:noFill/>
          <a:ln>
            <a:solidFill>
              <a:schemeClr val="tx1"/>
            </a:solidFill>
          </a:ln>
        </p:spPr>
        <p:txBody>
          <a:bodyPr wrap="square" rtlCol="0" anchor="t">
            <a:spAutoFit/>
          </a:bodyPr>
          <a:p>
            <a:r>
              <a:rPr lang="en-US" altLang="en-GB" sz="1600"/>
              <a:t>SELECT</a:t>
            </a:r>
            <a:endParaRPr lang="en-US" altLang="en-GB" sz="1600"/>
          </a:p>
          <a:p>
            <a:r>
              <a:rPr lang="en-US" altLang="en-GB" sz="1600"/>
              <a:t>    gp.country,</a:t>
            </a:r>
            <a:endParaRPr lang="en-US" altLang="en-GB" sz="1600"/>
          </a:p>
          <a:p>
            <a:r>
              <a:rPr lang="en-US" altLang="en-GB" sz="1600"/>
              <a:t>    gp.genre,</a:t>
            </a:r>
            <a:endParaRPr lang="en-US" altLang="en-GB" sz="1600"/>
          </a:p>
          <a:p>
            <a:r>
              <a:rPr lang="en-US" altLang="en-GB" sz="1600"/>
              <a:t>    gp.purchase_count</a:t>
            </a:r>
            <a:endParaRPr lang="en-US" altLang="en-GB" sz="1600"/>
          </a:p>
          <a:p>
            <a:r>
              <a:rPr lang="en-US" altLang="en-GB" sz="1600"/>
              <a:t>FROM genre_purchases AS gp</a:t>
            </a:r>
            <a:endParaRPr lang="en-US" altLang="en-GB" sz="1600"/>
          </a:p>
          <a:p>
            <a:r>
              <a:rPr lang="en-US" altLang="en-GB" sz="1600"/>
              <a:t>JOIN max_purchases AS mp</a:t>
            </a:r>
            <a:endParaRPr lang="en-US" altLang="en-GB" sz="1600"/>
          </a:p>
          <a:p>
            <a:r>
              <a:rPr lang="en-US" altLang="en-GB" sz="1600"/>
              <a:t>    ON gp.country = mp.country</a:t>
            </a:r>
            <a:endParaRPr lang="en-US" altLang="en-GB" sz="1600"/>
          </a:p>
          <a:p>
            <a:r>
              <a:rPr lang="en-US" altLang="en-GB" sz="1600"/>
              <a:t>    AND gp.purchase_count = mp.max_purchase_count</a:t>
            </a:r>
            <a:endParaRPr lang="en-US" altLang="en-GB" sz="1600"/>
          </a:p>
          <a:p>
            <a:r>
              <a:rPr lang="en-US" altLang="en-GB" sz="1600"/>
              <a:t>ORDER BY mp.max_purchase_count DESC;</a:t>
            </a:r>
            <a:endParaRPr lang="en-US" altLang="en-GB" sz="1600"/>
          </a:p>
        </p:txBody>
      </p:sp>
      <p:pic>
        <p:nvPicPr>
          <p:cNvPr id="6" name="Picture 5"/>
          <p:cNvPicPr>
            <a:picLocks noChangeAspect="1"/>
          </p:cNvPicPr>
          <p:nvPr/>
        </p:nvPicPr>
        <p:blipFill>
          <a:blip r:embed="rId1"/>
          <a:stretch>
            <a:fillRect/>
          </a:stretch>
        </p:blipFill>
        <p:spPr>
          <a:xfrm>
            <a:off x="7468870" y="3465195"/>
            <a:ext cx="2681605" cy="1063625"/>
          </a:xfrm>
          <a:prstGeom prst="rect">
            <a:avLst/>
          </a:prstGeom>
        </p:spPr>
      </p:pic>
      <p:sp>
        <p:nvSpPr>
          <p:cNvPr id="8" name="Text Box 7"/>
          <p:cNvSpPr txBox="1"/>
          <p:nvPr/>
        </p:nvSpPr>
        <p:spPr>
          <a:xfrm>
            <a:off x="6163310" y="3382645"/>
            <a:ext cx="1196975" cy="337185"/>
          </a:xfrm>
          <a:prstGeom prst="rect">
            <a:avLst/>
          </a:prstGeom>
          <a:noFill/>
        </p:spPr>
        <p:txBody>
          <a:bodyPr wrap="square" rtlCol="0" anchor="t">
            <a:spAutoFit/>
          </a:bodyPr>
          <a:p>
            <a:r>
              <a:rPr lang="en-IN" altLang="en-US" sz="1600" b="1">
                <a:solidFill>
                  <a:srgbClr val="C00000"/>
                </a:solidFill>
                <a:sym typeface="+mn-ea"/>
              </a:rPr>
              <a:t>Output:</a:t>
            </a:r>
            <a:endParaRPr lang="en-IN" altLang="en-US" sz="1600" b="1">
              <a:solidFill>
                <a:srgbClr val="C00000"/>
              </a:solidFill>
              <a:sym typeface="+mn-ea"/>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95985" y="683260"/>
            <a:ext cx="10515600" cy="847855"/>
          </a:xfrm>
        </p:spPr>
        <p:txBody>
          <a:bodyPr>
            <a:normAutofit/>
          </a:bodyPr>
          <a:lstStyle/>
          <a:p>
            <a:r>
              <a:rPr lang="en-IN" sz="3200" b="1" dirty="0" smtClean="0">
                <a:solidFill>
                  <a:srgbClr val="C00000"/>
                </a:solidFill>
              </a:rPr>
              <a:t>Recommendations:</a:t>
            </a:r>
            <a:endParaRPr lang="en-IN" sz="3200" b="1" dirty="0">
              <a:solidFill>
                <a:srgbClr val="C00000"/>
              </a:solidFill>
            </a:endParaRPr>
          </a:p>
        </p:txBody>
      </p:sp>
      <p:sp>
        <p:nvSpPr>
          <p:cNvPr id="3" name="Text Placeholder 2"/>
          <p:cNvSpPr>
            <a:spLocks noGrp="1"/>
          </p:cNvSpPr>
          <p:nvPr>
            <p:ph type="body" idx="1"/>
          </p:nvPr>
        </p:nvSpPr>
        <p:spPr>
          <a:xfrm>
            <a:off x="770255" y="1704975"/>
            <a:ext cx="10515600" cy="3164840"/>
          </a:xfrm>
        </p:spPr>
        <p:txBody>
          <a:bodyPr>
            <a:normAutofit lnSpcReduction="10000"/>
          </a:bodyPr>
          <a:lstStyle/>
          <a:p>
            <a:pPr algn="just">
              <a:lnSpc>
                <a:spcPct val="150000"/>
              </a:lnSpc>
            </a:pPr>
            <a:r>
              <a:rPr lang="en-US" altLang="en-GB" sz="2000" dirty="0">
                <a:latin typeface="+mn-lt"/>
              </a:rPr>
              <a:t>Interactive Visualizations </a:t>
            </a:r>
            <a:r>
              <a:rPr lang="en-IN" altLang="en-US" sz="2000" dirty="0">
                <a:latin typeface="+mn-lt"/>
              </a:rPr>
              <a:t>-</a:t>
            </a:r>
            <a:r>
              <a:rPr lang="en-US" altLang="en-GB" sz="2000" dirty="0">
                <a:latin typeface="+mn-lt"/>
              </a:rPr>
              <a:t> Build dynamic dashboards with charts, maps, and filters for deeper insights.</a:t>
            </a:r>
            <a:endParaRPr lang="en-US" altLang="en-GB" sz="2000" dirty="0">
              <a:latin typeface="+mn-lt"/>
            </a:endParaRPr>
          </a:p>
          <a:p>
            <a:pPr algn="just">
              <a:lnSpc>
                <a:spcPct val="150000"/>
              </a:lnSpc>
            </a:pPr>
            <a:r>
              <a:rPr lang="en-US" altLang="en-GB" sz="2000" dirty="0">
                <a:latin typeface="+mn-lt"/>
              </a:rPr>
              <a:t>Churn Prediction </a:t>
            </a:r>
            <a:r>
              <a:rPr lang="en-IN" altLang="en-US" sz="2000" dirty="0">
                <a:latin typeface="+mn-lt"/>
              </a:rPr>
              <a:t>-</a:t>
            </a:r>
            <a:r>
              <a:rPr lang="en-US" altLang="en-GB" sz="2000" dirty="0">
                <a:latin typeface="+mn-lt"/>
              </a:rPr>
              <a:t> detect customers whose purchasing activity is declining</a:t>
            </a:r>
            <a:endParaRPr lang="en-US" altLang="en-GB" sz="2000" dirty="0">
              <a:latin typeface="+mn-lt"/>
            </a:endParaRPr>
          </a:p>
          <a:p>
            <a:pPr algn="just">
              <a:lnSpc>
                <a:spcPct val="150000"/>
              </a:lnSpc>
            </a:pPr>
            <a:r>
              <a:rPr lang="en-US" altLang="en-GB" sz="2000" dirty="0">
                <a:latin typeface="+mn-lt"/>
              </a:rPr>
              <a:t>Sales Forecasting to predict future revenue and demand.</a:t>
            </a:r>
            <a:endParaRPr lang="en-US" altLang="en-GB" sz="2000" dirty="0">
              <a:latin typeface="+mn-lt"/>
            </a:endParaRPr>
          </a:p>
          <a:p>
            <a:pPr algn="just">
              <a:lnSpc>
                <a:spcPct val="150000"/>
              </a:lnSpc>
            </a:pPr>
            <a:r>
              <a:rPr lang="en-US" altLang="en-GB" sz="2000" dirty="0">
                <a:latin typeface="+mn-lt"/>
              </a:rPr>
              <a:t>Real-Time Analytics </a:t>
            </a:r>
            <a:r>
              <a:rPr lang="en-IN" altLang="en-US" sz="2000" dirty="0">
                <a:latin typeface="+mn-lt"/>
              </a:rPr>
              <a:t>-</a:t>
            </a:r>
            <a:r>
              <a:rPr lang="en-US" altLang="en-GB" sz="2000" dirty="0">
                <a:latin typeface="+mn-lt"/>
              </a:rPr>
              <a:t> connect the database to a live dashboard for continuously updated KPIs.</a:t>
            </a:r>
            <a:endParaRPr lang="en-US" altLang="en-GB" sz="2000" dirty="0">
              <a:latin typeface="+mn-lt"/>
            </a:endParaRPr>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63930" y="751205"/>
            <a:ext cx="10515600" cy="847855"/>
          </a:xfrm>
        </p:spPr>
        <p:txBody>
          <a:bodyPr>
            <a:normAutofit/>
          </a:bodyPr>
          <a:lstStyle/>
          <a:p>
            <a:r>
              <a:rPr lang="en-IN" sz="3200" b="1" dirty="0" smtClean="0">
                <a:solidFill>
                  <a:srgbClr val="C00000"/>
                </a:solidFill>
              </a:rPr>
              <a:t>Conclusion:</a:t>
            </a:r>
            <a:endParaRPr lang="en-IN" sz="3200" b="1" dirty="0">
              <a:solidFill>
                <a:srgbClr val="C00000"/>
              </a:solidFill>
            </a:endParaRPr>
          </a:p>
        </p:txBody>
      </p:sp>
      <p:sp>
        <p:nvSpPr>
          <p:cNvPr id="3" name="Text Placeholder 2"/>
          <p:cNvSpPr>
            <a:spLocks noGrp="1"/>
          </p:cNvSpPr>
          <p:nvPr>
            <p:ph type="body" idx="1"/>
          </p:nvPr>
        </p:nvSpPr>
        <p:spPr>
          <a:xfrm>
            <a:off x="838200" y="2101850"/>
            <a:ext cx="10515600" cy="3290570"/>
          </a:xfrm>
        </p:spPr>
        <p:txBody>
          <a:bodyPr>
            <a:normAutofit/>
          </a:bodyPr>
          <a:lstStyle/>
          <a:p>
            <a:pPr marL="114300" indent="0" algn="just">
              <a:lnSpc>
                <a:spcPct val="150000"/>
              </a:lnSpc>
              <a:buNone/>
            </a:pPr>
            <a:r>
              <a:rPr lang="en-US" altLang="en-GB" sz="2000" dirty="0">
                <a:latin typeface="+mn-lt"/>
              </a:rPr>
              <a:t>This project transformed raw music-store data into meaningful business insights using SQL. By analyzing customers, invoices, artists, tracks, and genres, we identified important purchasing patterns and business opportunities. The analysis demonstrates how structured data and SQL can support data-driven decisions, targeted marketing, and improved customer engagement.</a:t>
            </a:r>
            <a:endParaRPr lang="en-US" altLang="en-GB" sz="2000" dirty="0">
              <a:latin typeface="+mn-lt"/>
            </a:endParaRPr>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63930" y="751205"/>
            <a:ext cx="10515600" cy="847855"/>
          </a:xfrm>
        </p:spPr>
        <p:txBody>
          <a:bodyPr>
            <a:normAutofit/>
          </a:bodyPr>
          <a:lstStyle/>
          <a:p>
            <a:r>
              <a:rPr lang="en-IN" sz="3200" b="1" dirty="0" smtClean="0">
                <a:solidFill>
                  <a:srgbClr val="C00000"/>
                </a:solidFill>
              </a:rPr>
              <a:t>Experience &amp; challenges :</a:t>
            </a:r>
            <a:endParaRPr lang="en-IN" sz="3200" b="1" dirty="0">
              <a:solidFill>
                <a:srgbClr val="C00000"/>
              </a:solidFill>
            </a:endParaRPr>
          </a:p>
        </p:txBody>
      </p:sp>
      <p:sp>
        <p:nvSpPr>
          <p:cNvPr id="3" name="Text Placeholder 2"/>
          <p:cNvSpPr>
            <a:spLocks noGrp="1"/>
          </p:cNvSpPr>
          <p:nvPr>
            <p:ph type="body" idx="1"/>
          </p:nvPr>
        </p:nvSpPr>
        <p:spPr>
          <a:xfrm>
            <a:off x="886460" y="2101850"/>
            <a:ext cx="9821545" cy="3290570"/>
          </a:xfrm>
        </p:spPr>
        <p:txBody>
          <a:bodyPr>
            <a:normAutofit/>
          </a:bodyPr>
          <a:lstStyle/>
          <a:p>
            <a:pPr marL="114300" indent="0" algn="just">
              <a:lnSpc>
                <a:spcPct val="150000"/>
              </a:lnSpc>
              <a:buNone/>
            </a:pPr>
            <a:r>
              <a:rPr lang="en-US" altLang="en-GB" sz="2000" dirty="0">
                <a:latin typeface="+mn-lt"/>
              </a:rPr>
              <a:t>Working on this project provided hands-on experience in data relationships, and SQL-based business analysis. The major challenges included understanding complex table relationships, applying the correct joins, handling aggregations across multiple tables, and translating business questions into efficient SQL queries. Overall, the project strengthened my ability to analyze real-world data and convert it into actionable insights.</a:t>
            </a:r>
            <a:endParaRPr lang="en-US" altLang="en-GB" sz="2000" dirty="0">
              <a:latin typeface="+mn-lt"/>
            </a:endParaRPr>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495800" y="2501835"/>
            <a:ext cx="4041710" cy="1325563"/>
          </a:xfrm>
        </p:spPr>
        <p:txBody>
          <a:bodyPr/>
          <a:lstStyle/>
          <a:p>
            <a:r>
              <a:rPr lang="en-IN" b="1" dirty="0" smtClean="0"/>
              <a:t>Any Queries ?</a:t>
            </a:r>
            <a:endParaRPr lang="en-IN" b="1" dirty="0"/>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pic>
        <p:nvPicPr>
          <p:cNvPr id="116" name="Google Shape;116;p5"/>
          <p:cNvPicPr preferRelativeResize="0"/>
          <p:nvPr/>
        </p:nvPicPr>
        <p:blipFill rotWithShape="1">
          <a:blip r:embed="rId1"/>
          <a:srcRect/>
          <a:stretch>
            <a:fillRect/>
          </a:stretch>
        </p:blipFill>
        <p:spPr>
          <a:xfrm>
            <a:off x="6466516" y="1850749"/>
            <a:ext cx="4465643" cy="2834317"/>
          </a:xfrm>
          <a:prstGeom prst="rect">
            <a:avLst/>
          </a:prstGeom>
          <a:noFill/>
          <a:ln>
            <a:noFill/>
          </a:ln>
        </p:spPr>
      </p:pic>
      <p:sp>
        <p:nvSpPr>
          <p:cNvPr id="117" name="Google Shape;117;p5"/>
          <p:cNvSpPr txBox="1"/>
          <p:nvPr/>
        </p:nvSpPr>
        <p:spPr>
          <a:xfrm>
            <a:off x="1244600" y="2997200"/>
            <a:ext cx="3661836" cy="769441"/>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C00000"/>
              </a:buClr>
              <a:buSzPts val="4400"/>
              <a:buFont typeface="Libre Baskerville" panose="02000000000000000000"/>
              <a:buNone/>
            </a:pPr>
            <a:r>
              <a:rPr lang="en-IN" sz="4400" b="0" i="0" u="none" strike="noStrike" cap="none">
                <a:solidFill>
                  <a:srgbClr val="C00000"/>
                </a:solidFill>
                <a:latin typeface="Libre Baskerville" panose="02000000000000000000"/>
                <a:ea typeface="Libre Baskerville" panose="02000000000000000000"/>
                <a:cs typeface="Libre Baskerville" panose="02000000000000000000"/>
                <a:sym typeface="Libre Baskerville" panose="02000000000000000000"/>
              </a:rPr>
              <a:t>THANK YOU</a:t>
            </a: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p:timing>
    <p:tnLst>
      <p:par>
        <p:cTn id="1" dur="indefinite" restart="never" nodeType="tmRoot"/>
      </p:par>
    </p:tnLst>
  </p:timing>
</p:sld>
</file>

<file path=ppt/tags/tag1.xml><?xml version="1.0" encoding="utf-8"?>
<p:tagLst xmlns:p="http://schemas.openxmlformats.org/presentationml/2006/main">
  <p:tag name="TABLE_ENDDRAG_ORIGIN_RECT" val="900*492"/>
  <p:tag name="TABLE_ENDDRAG_RECT" val="39*46*900*492"/>
</p:tagLst>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11938</Words>
  <Application>WPS Presentation</Application>
  <PresentationFormat>Widescreen</PresentationFormat>
  <Paragraphs>450</Paragraphs>
  <Slides>23</Slides>
  <Notes>3</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23</vt:i4>
      </vt:variant>
    </vt:vector>
  </HeadingPairs>
  <TitlesOfParts>
    <vt:vector size="32" baseType="lpstr">
      <vt:lpstr>Arial</vt:lpstr>
      <vt:lpstr>SimSun</vt:lpstr>
      <vt:lpstr>Wingdings</vt:lpstr>
      <vt:lpstr>Arial</vt:lpstr>
      <vt:lpstr>Calibri</vt:lpstr>
      <vt:lpstr>Microsoft YaHei</vt:lpstr>
      <vt:lpstr>Arial Unicode MS</vt:lpstr>
      <vt:lpstr>Libre Baskerville</vt:lpstr>
      <vt:lpstr>Office Theme</vt:lpstr>
      <vt:lpstr>PowerPoint 演示文稿</vt:lpstr>
      <vt:lpstr>PowerPoint 演示文稿</vt:lpstr>
      <vt:lpstr>PowerPoint 演示文稿</vt:lpstr>
      <vt:lpstr>PowerPoint 演示文稿</vt:lpstr>
      <vt:lpstr>PowerPoint 演示文稿</vt:lpstr>
      <vt:lpstr>Objective: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Recommendations:</vt:lpstr>
      <vt:lpstr>Conclusion:</vt:lpstr>
      <vt:lpstr>Experience &amp; challenges :</vt:lpstr>
      <vt:lpstr>Any Queries ?</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Raghu Ram Aduri</dc:creator>
  <cp:lastModifiedBy>Hello</cp:lastModifiedBy>
  <cp:revision>32</cp:revision>
  <dcterms:created xsi:type="dcterms:W3CDTF">2021-02-16T05:19:00Z</dcterms:created>
  <dcterms:modified xsi:type="dcterms:W3CDTF">2026-09-29T13:14:21Z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6058DF64907C45C8B627B5B0C2C6F674_13</vt:lpwstr>
  </property>
  <property fmtid="{D5CDD505-2E9C-101B-9397-08002B2CF9AE}" pid="3" name="KSOProductBuildVer">
    <vt:lpwstr>2057-12.2.0.23206</vt:lpwstr>
  </property>
</Properties>
</file>